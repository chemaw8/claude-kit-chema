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?>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4.xml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1.xml"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C2A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12801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137160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spc="100" kern="0" dirty="0">
                <a:solidFill>
                  <a:srgbClr val="EFA95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Estándar de calidad para Claude</a:t>
            </a:r>
            <a:endParaRPr lang="en-US" sz="1400" dirty="0"/>
          </a:p>
        </p:txBody>
      </p:sp>
      <p:sp>
        <p:nvSpPr>
          <p:cNvPr id="4" name="Text 1"/>
          <p:cNvSpPr/>
          <p:nvPr/>
        </p:nvSpPr>
        <p:spPr>
          <a:xfrm>
            <a:off x="640080" y="1828800"/>
            <a:ext cx="1091153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6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Kit Chema</a:t>
            </a:r>
            <a:endParaRPr lang="en-US" sz="7600" dirty="0"/>
          </a:p>
        </p:txBody>
      </p:sp>
      <p:sp>
        <p:nvSpPr>
          <p:cNvPr id="5" name="Text 2"/>
          <p:cNvSpPr/>
          <p:nvPr/>
        </p:nvSpPr>
        <p:spPr>
          <a:xfrm>
            <a:off x="640080" y="320040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dirty="0">
                <a:solidFill>
                  <a:srgbClr val="2E7C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que Claude trabaje bien para todo Innovattia</a:t>
            </a:r>
            <a:endParaRPr lang="en-US" sz="2600" dirty="0"/>
          </a:p>
        </p:txBody>
      </p:sp>
      <p:sp>
        <p:nvSpPr>
          <p:cNvPr id="6" name="Text 3"/>
          <p:cNvSpPr/>
          <p:nvPr/>
        </p:nvSpPr>
        <p:spPr>
          <a:xfrm>
            <a:off x="640080" y="4114800"/>
            <a:ext cx="8686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AEBEC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Instrucciones de calidad que cualquiera instala y usa, sin depender de la configuración personal de nadie.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640080" y="603504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E748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repositorio claude-kit-chema   ·   v1.0   ·   2026-07-09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00" kern="0" dirty="0">
                <a:solidFill>
                  <a:srgbClr val="DD853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02</a:t>
            </a:r>
            <a:pPr algn="l" indent="0" marL="0">
              <a:buNone/>
            </a:pPr>
            <a:r>
              <a:rPr lang="en-US" sz="1200" spc="100" kern="0" dirty="0">
                <a:solidFill>
                  <a:srgbClr val="8A99A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 xml:space="preserve">   El problema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3000" b="1" dirty="0">
                <a:solidFill>
                  <a:srgbClr val="10568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Hoy Claude repite cinco fallos que nos cuestan tiempo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10911535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DCE4EA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640080" y="1874520"/>
            <a:ext cx="82296" cy="841248"/>
          </a:xfrm>
          <a:prstGeom prst="rect">
            <a:avLst/>
          </a:prstGeom>
          <a:solidFill>
            <a:srgbClr val="EC2229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932688" y="2039112"/>
            <a:ext cx="512064" cy="512064"/>
          </a:xfrm>
          <a:prstGeom prst="ellipse">
            <a:avLst/>
          </a:prstGeom>
          <a:solidFill>
            <a:srgbClr val="C6404A"/>
          </a:solidFill>
          <a:ln/>
          <a:effectLst>
            <a:outerShdw sx="100000" sy="100000" kx="0" ky="0" algn="bl" rotWithShape="0" blurRad="114300" dist="38100" dir="8100000">
              <a:srgbClr val="0C2A3E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0945" y="2177369"/>
            <a:ext cx="235549" cy="235549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691640" y="1993392"/>
            <a:ext cx="4297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A1D2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Respuestas genéricas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6126480" y="1993392"/>
            <a:ext cx="515081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44515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Ignora el contexto de la empresa y responde para cualquiera.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640080" y="2770632"/>
            <a:ext cx="10911535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DCE4EA"/>
            </a:solidFill>
            <a:prstDash val="solid"/>
          </a:ln>
        </p:spPr>
        <p:txBody>
          <a:bodyPr/>
          <a:p/>
        </p:txBody>
      </p:sp>
      <p:sp>
        <p:nvSpPr>
          <p:cNvPr id="11" name="Shape 8"/>
          <p:cNvSpPr/>
          <p:nvPr/>
        </p:nvSpPr>
        <p:spPr>
          <a:xfrm>
            <a:off x="640080" y="2770632"/>
            <a:ext cx="82296" cy="841248"/>
          </a:xfrm>
          <a:prstGeom prst="rect">
            <a:avLst/>
          </a:prstGeom>
          <a:solidFill>
            <a:srgbClr val="EC2229"/>
          </a:solidFill>
          <a:ln/>
        </p:spPr>
        <p:txBody>
          <a:bodyPr/>
          <a:p/>
        </p:txBody>
      </p:sp>
      <p:sp>
        <p:nvSpPr>
          <p:cNvPr id="12" name="Shape 9"/>
          <p:cNvSpPr/>
          <p:nvPr/>
        </p:nvSpPr>
        <p:spPr>
          <a:xfrm>
            <a:off x="932688" y="2935224"/>
            <a:ext cx="512064" cy="512064"/>
          </a:xfrm>
          <a:prstGeom prst="ellipse">
            <a:avLst/>
          </a:prstGeom>
          <a:solidFill>
            <a:srgbClr val="C6404A"/>
          </a:solidFill>
          <a:ln/>
          <a:effectLst>
            <a:outerShdw sx="100000" sy="100000" kx="0" ky="0" algn="bl" rotWithShape="0" blurRad="114300" dist="38100" dir="8100000">
              <a:srgbClr val="0C2A3E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0945" y="3073481"/>
            <a:ext cx="235549" cy="235549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691640" y="2889504"/>
            <a:ext cx="4297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A1D2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Supuestos no consultados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6126480" y="2889504"/>
            <a:ext cx="515081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44515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Asume lo que no sabe en vez de preguntar.</a:t>
            </a:r>
            <a:endParaRPr lang="en-US" sz="1350" dirty="0"/>
          </a:p>
        </p:txBody>
      </p:sp>
      <p:sp>
        <p:nvSpPr>
          <p:cNvPr id="16" name="Shape 12"/>
          <p:cNvSpPr/>
          <p:nvPr/>
        </p:nvSpPr>
        <p:spPr>
          <a:xfrm>
            <a:off x="640080" y="3666744"/>
            <a:ext cx="10911535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DCE4EA"/>
            </a:solidFill>
            <a:prstDash val="solid"/>
          </a:ln>
        </p:spPr>
        <p:txBody>
          <a:bodyPr/>
          <a:p/>
        </p:txBody>
      </p:sp>
      <p:sp>
        <p:nvSpPr>
          <p:cNvPr id="17" name="Shape 13"/>
          <p:cNvSpPr/>
          <p:nvPr/>
        </p:nvSpPr>
        <p:spPr>
          <a:xfrm>
            <a:off x="640080" y="3666744"/>
            <a:ext cx="82296" cy="841248"/>
          </a:xfrm>
          <a:prstGeom prst="rect">
            <a:avLst/>
          </a:prstGeom>
          <a:solidFill>
            <a:srgbClr val="EC2229"/>
          </a:solidFill>
          <a:ln/>
        </p:spPr>
        <p:txBody>
          <a:bodyPr/>
          <a:p/>
        </p:txBody>
      </p:sp>
      <p:sp>
        <p:nvSpPr>
          <p:cNvPr id="18" name="Shape 14"/>
          <p:cNvSpPr/>
          <p:nvPr/>
        </p:nvSpPr>
        <p:spPr>
          <a:xfrm>
            <a:off x="932688" y="3831336"/>
            <a:ext cx="512064" cy="512064"/>
          </a:xfrm>
          <a:prstGeom prst="ellipse">
            <a:avLst/>
          </a:prstGeom>
          <a:solidFill>
            <a:srgbClr val="C6404A"/>
          </a:solidFill>
          <a:ln/>
          <a:effectLst>
            <a:outerShdw sx="100000" sy="100000" kx="0" ky="0" algn="bl" rotWithShape="0" blurRad="114300" dist="38100" dir="8100000">
              <a:srgbClr val="0C2A3E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0945" y="3969593"/>
            <a:ext cx="235549" cy="235549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691640" y="3785616"/>
            <a:ext cx="4297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A1D2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Inconsistencia entre sesiones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6126480" y="3785616"/>
            <a:ext cx="515081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44515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Cada conversación repite errores ya corregidos.</a:t>
            </a:r>
            <a:endParaRPr lang="en-US" sz="1350" dirty="0"/>
          </a:p>
        </p:txBody>
      </p:sp>
      <p:sp>
        <p:nvSpPr>
          <p:cNvPr id="22" name="Shape 17"/>
          <p:cNvSpPr/>
          <p:nvPr/>
        </p:nvSpPr>
        <p:spPr>
          <a:xfrm>
            <a:off x="640080" y="4562856"/>
            <a:ext cx="10911535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DCE4EA"/>
            </a:solidFill>
            <a:prstDash val="solid"/>
          </a:ln>
        </p:spPr>
        <p:txBody>
          <a:bodyPr/>
          <a:p/>
        </p:txBody>
      </p:sp>
      <p:sp>
        <p:nvSpPr>
          <p:cNvPr id="23" name="Shape 18"/>
          <p:cNvSpPr/>
          <p:nvPr/>
        </p:nvSpPr>
        <p:spPr>
          <a:xfrm>
            <a:off x="640080" y="4562856"/>
            <a:ext cx="82296" cy="841248"/>
          </a:xfrm>
          <a:prstGeom prst="rect">
            <a:avLst/>
          </a:prstGeom>
          <a:solidFill>
            <a:srgbClr val="EC2229"/>
          </a:solidFill>
          <a:ln/>
        </p:spPr>
        <p:txBody>
          <a:bodyPr/>
          <a:p/>
        </p:txBody>
      </p:sp>
      <p:sp>
        <p:nvSpPr>
          <p:cNvPr id="24" name="Shape 19"/>
          <p:cNvSpPr/>
          <p:nvPr/>
        </p:nvSpPr>
        <p:spPr>
          <a:xfrm>
            <a:off x="932688" y="4727448"/>
            <a:ext cx="512064" cy="512064"/>
          </a:xfrm>
          <a:prstGeom prst="ellipse">
            <a:avLst/>
          </a:prstGeom>
          <a:solidFill>
            <a:srgbClr val="C6404A"/>
          </a:solidFill>
          <a:ln/>
          <a:effectLst>
            <a:outerShdw sx="100000" sy="100000" kx="0" ky="0" algn="bl" rotWithShape="0" blurRad="114300" dist="38100" dir="8100000">
              <a:srgbClr val="0C2A3E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0945" y="4865705"/>
            <a:ext cx="235549" cy="235549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1691640" y="4681728"/>
            <a:ext cx="4297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A1D2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Complacencia</a:t>
            </a:r>
            <a:endParaRPr lang="en-US" sz="1600" dirty="0"/>
          </a:p>
        </p:txBody>
      </p:sp>
      <p:sp>
        <p:nvSpPr>
          <p:cNvPr id="27" name="Text 21"/>
          <p:cNvSpPr/>
          <p:nvPr/>
        </p:nvSpPr>
        <p:spPr>
          <a:xfrm>
            <a:off x="6126480" y="4681728"/>
            <a:ext cx="515081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44515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Dice "sí" a propuestas débiles en vez de señalar el problema.</a:t>
            </a:r>
            <a:endParaRPr lang="en-US" sz="1350" dirty="0"/>
          </a:p>
        </p:txBody>
      </p:sp>
      <p:sp>
        <p:nvSpPr>
          <p:cNvPr id="28" name="Shape 22"/>
          <p:cNvSpPr/>
          <p:nvPr/>
        </p:nvSpPr>
        <p:spPr>
          <a:xfrm>
            <a:off x="640080" y="5458968"/>
            <a:ext cx="10911535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DCE4EA"/>
            </a:solidFill>
            <a:prstDash val="solid"/>
          </a:ln>
        </p:spPr>
        <p:txBody>
          <a:bodyPr/>
          <a:p/>
        </p:txBody>
      </p:sp>
      <p:sp>
        <p:nvSpPr>
          <p:cNvPr id="29" name="Shape 23"/>
          <p:cNvSpPr/>
          <p:nvPr/>
        </p:nvSpPr>
        <p:spPr>
          <a:xfrm>
            <a:off x="640080" y="5458968"/>
            <a:ext cx="82296" cy="841248"/>
          </a:xfrm>
          <a:prstGeom prst="rect">
            <a:avLst/>
          </a:prstGeom>
          <a:solidFill>
            <a:srgbClr val="EC2229"/>
          </a:solidFill>
          <a:ln/>
        </p:spPr>
        <p:txBody>
          <a:bodyPr/>
          <a:p/>
        </p:txBody>
      </p:sp>
      <p:sp>
        <p:nvSpPr>
          <p:cNvPr id="30" name="Shape 24"/>
          <p:cNvSpPr/>
          <p:nvPr/>
        </p:nvSpPr>
        <p:spPr>
          <a:xfrm>
            <a:off x="932688" y="5623560"/>
            <a:ext cx="512064" cy="512064"/>
          </a:xfrm>
          <a:prstGeom prst="ellipse">
            <a:avLst/>
          </a:prstGeom>
          <a:solidFill>
            <a:srgbClr val="C6404A"/>
          </a:solidFill>
          <a:ln/>
          <a:effectLst>
            <a:outerShdw sx="100000" sy="100000" kx="0" ky="0" algn="bl" rotWithShape="0" blurRad="114300" dist="38100" dir="8100000">
              <a:srgbClr val="0C2A3E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31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0945" y="5761817"/>
            <a:ext cx="235549" cy="235549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1691640" y="5577840"/>
            <a:ext cx="4297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A1D2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Código contaminado</a:t>
            </a:r>
            <a:endParaRPr lang="en-US" sz="1600" dirty="0"/>
          </a:p>
        </p:txBody>
      </p:sp>
      <p:sp>
        <p:nvSpPr>
          <p:cNvPr id="33" name="Text 26"/>
          <p:cNvSpPr/>
          <p:nvPr/>
        </p:nvSpPr>
        <p:spPr>
          <a:xfrm>
            <a:off x="6126480" y="5577840"/>
            <a:ext cx="515081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44515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Duplicados, residuos y estilos mezclados en lo generado.</a:t>
            </a:r>
            <a:endParaRPr lang="en-US" sz="1350" dirty="0"/>
          </a:p>
        </p:txBody>
      </p:sp>
      <p:sp>
        <p:nvSpPr>
          <p:cNvPr id="34" name="Shape 27"/>
          <p:cNvSpPr/>
          <p:nvPr/>
        </p:nvSpPr>
        <p:spPr>
          <a:xfrm>
            <a:off x="640080" y="6419088"/>
            <a:ext cx="10911535" cy="0"/>
          </a:xfrm>
          <a:prstGeom prst="line">
            <a:avLst/>
          </a:prstGeom>
          <a:noFill/>
          <a:ln w="12700">
            <a:solidFill>
              <a:srgbClr val="DCE4EA"/>
            </a:solidFill>
            <a:prstDash val="solid"/>
          </a:ln>
        </p:spPr>
        <p:txBody>
          <a:bodyPr/>
          <a:p/>
        </p:txBody>
      </p:sp>
      <p:sp>
        <p:nvSpPr>
          <p:cNvPr id="35" name="Text 28"/>
          <p:cNvSpPr/>
          <p:nvPr/>
        </p:nvSpPr>
        <p:spPr>
          <a:xfrm>
            <a:off x="640080" y="645566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99A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Kit Chema</a:t>
            </a:r>
            <a:endParaRPr lang="en-US" sz="900" dirty="0"/>
          </a:p>
        </p:txBody>
      </p:sp>
      <p:sp>
        <p:nvSpPr>
          <p:cNvPr id="36" name="Text 29"/>
          <p:cNvSpPr/>
          <p:nvPr/>
        </p:nvSpPr>
        <p:spPr>
          <a:xfrm>
            <a:off x="9722815" y="645566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9A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02 / 12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00" kern="0" dirty="0">
                <a:solidFill>
                  <a:srgbClr val="DD853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03</a:t>
            </a:r>
            <a:pPr algn="l" indent="0" marL="0">
              <a:buNone/>
            </a:pPr>
            <a:r>
              <a:rPr lang="en-US" sz="1200" spc="100" kern="0" dirty="0">
                <a:solidFill>
                  <a:srgbClr val="8A99A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 xml:space="preserve">   La solución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3000" b="1" dirty="0">
                <a:solidFill>
                  <a:srgbClr val="10568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 kit lo ataca con cuatro piezas que encajan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5272888" cy="1847088"/>
          </a:xfrm>
          <a:prstGeom prst="rect">
            <a:avLst/>
          </a:prstGeom>
          <a:solidFill>
            <a:srgbClr val="FFFFFF"/>
          </a:solidFill>
          <a:ln w="12700">
            <a:solidFill>
              <a:srgbClr val="DCE4EA"/>
            </a:solidFill>
            <a:prstDash val="solid"/>
          </a:ln>
          <a:effectLst>
            <a:outerShdw sx="100000" sy="100000" kx="0" ky="0" algn="bl" rotWithShape="0" blurRad="114300" dist="38100" dir="8100000">
              <a:srgbClr val="0C2A3E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1005840" y="2286000"/>
            <a:ext cx="731520" cy="731520"/>
          </a:xfrm>
          <a:prstGeom prst="ellipse">
            <a:avLst/>
          </a:prstGeom>
          <a:solidFill>
            <a:srgbClr val="105687"/>
          </a:solidFill>
          <a:ln/>
          <a:effectLst>
            <a:outerShdw sx="100000" sy="100000" kx="0" ky="0" algn="bl" rotWithShape="0" blurRad="114300" dist="38100" dir="8100000">
              <a:srgbClr val="0C2A3E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03350" y="2483510"/>
            <a:ext cx="336499" cy="33649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965960" y="2304288"/>
            <a:ext cx="37184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A1D2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Núcleo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1024128" y="3035808"/>
            <a:ext cx="45047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44515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CLAUDE.md de 77 líneas que carga en toda conversación: las reglas universales.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6278728" y="1920240"/>
            <a:ext cx="5272888" cy="1847088"/>
          </a:xfrm>
          <a:prstGeom prst="rect">
            <a:avLst/>
          </a:prstGeom>
          <a:solidFill>
            <a:srgbClr val="FFFFFF"/>
          </a:solidFill>
          <a:ln w="12700">
            <a:solidFill>
              <a:srgbClr val="DCE4EA"/>
            </a:solidFill>
            <a:prstDash val="solid"/>
          </a:ln>
          <a:effectLst>
            <a:outerShdw sx="100000" sy="100000" kx="0" ky="0" algn="bl" rotWithShape="0" blurRad="114300" dist="38100" dir="8100000">
              <a:srgbClr val="0C2A3E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10" name="Shape 7"/>
          <p:cNvSpPr/>
          <p:nvPr/>
        </p:nvSpPr>
        <p:spPr>
          <a:xfrm>
            <a:off x="6644488" y="2286000"/>
            <a:ext cx="731520" cy="731520"/>
          </a:xfrm>
          <a:prstGeom prst="ellipse">
            <a:avLst/>
          </a:prstGeom>
          <a:solidFill>
            <a:srgbClr val="2E7CB8"/>
          </a:solidFill>
          <a:ln/>
          <a:effectLst>
            <a:outerShdw sx="100000" sy="100000" kx="0" ky="0" algn="bl" rotWithShape="0" blurRad="114300" dist="38100" dir="8100000">
              <a:srgbClr val="0C2A3E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41998" y="2483510"/>
            <a:ext cx="336499" cy="336499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604608" y="2304288"/>
            <a:ext cx="37184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A1D2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Playbooks</a:t>
            </a:r>
            <a:endParaRPr lang="en-US" sz="1900" dirty="0"/>
          </a:p>
        </p:txBody>
      </p:sp>
      <p:sp>
        <p:nvSpPr>
          <p:cNvPr id="13" name="Text 9"/>
          <p:cNvSpPr/>
          <p:nvPr/>
        </p:nvSpPr>
        <p:spPr>
          <a:xfrm>
            <a:off x="6662776" y="3035808"/>
            <a:ext cx="45047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44515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 skills de dominio que se activan solas cuando la tarea las necesita.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640080" y="4023360"/>
            <a:ext cx="5272888" cy="1847088"/>
          </a:xfrm>
          <a:prstGeom prst="rect">
            <a:avLst/>
          </a:prstGeom>
          <a:solidFill>
            <a:srgbClr val="FFFFFF"/>
          </a:solidFill>
          <a:ln w="12700">
            <a:solidFill>
              <a:srgbClr val="DCE4EA"/>
            </a:solidFill>
            <a:prstDash val="solid"/>
          </a:ln>
          <a:effectLst>
            <a:outerShdw sx="100000" sy="100000" kx="0" ky="0" algn="bl" rotWithShape="0" blurRad="114300" dist="38100" dir="8100000">
              <a:srgbClr val="0C2A3E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15" name="Shape 11"/>
          <p:cNvSpPr/>
          <p:nvPr/>
        </p:nvSpPr>
        <p:spPr>
          <a:xfrm>
            <a:off x="1005840" y="4389120"/>
            <a:ext cx="731520" cy="731520"/>
          </a:xfrm>
          <a:prstGeom prst="ellipse">
            <a:avLst/>
          </a:prstGeom>
          <a:solidFill>
            <a:srgbClr val="DD8533"/>
          </a:solidFill>
          <a:ln/>
          <a:effectLst>
            <a:outerShdw sx="100000" sy="100000" kx="0" ky="0" algn="bl" rotWithShape="0" blurRad="114300" dist="38100" dir="8100000">
              <a:srgbClr val="0C2A3E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3350" y="4586630"/>
            <a:ext cx="336499" cy="336499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965960" y="4407408"/>
            <a:ext cx="37184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A1D2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Hook anti-secretos</a:t>
            </a:r>
            <a:endParaRPr lang="en-US" sz="1900" dirty="0"/>
          </a:p>
        </p:txBody>
      </p:sp>
      <p:sp>
        <p:nvSpPr>
          <p:cNvPr id="18" name="Text 13"/>
          <p:cNvSpPr/>
          <p:nvPr/>
        </p:nvSpPr>
        <p:spPr>
          <a:xfrm>
            <a:off x="1024128" y="5138928"/>
            <a:ext cx="45047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44515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Regla determinista opt-in que ejecuta la máquina, no la memoria de Claude.</a:t>
            </a:r>
            <a:endParaRPr lang="en-US" sz="1350" dirty="0"/>
          </a:p>
        </p:txBody>
      </p:sp>
      <p:sp>
        <p:nvSpPr>
          <p:cNvPr id="19" name="Shape 14"/>
          <p:cNvSpPr/>
          <p:nvPr/>
        </p:nvSpPr>
        <p:spPr>
          <a:xfrm>
            <a:off x="6278728" y="4023360"/>
            <a:ext cx="5272888" cy="1847088"/>
          </a:xfrm>
          <a:prstGeom prst="rect">
            <a:avLst/>
          </a:prstGeom>
          <a:solidFill>
            <a:srgbClr val="FFFFFF"/>
          </a:solidFill>
          <a:ln w="12700">
            <a:solidFill>
              <a:srgbClr val="DCE4EA"/>
            </a:solidFill>
            <a:prstDash val="solid"/>
          </a:ln>
          <a:effectLst>
            <a:outerShdw sx="100000" sy="100000" kx="0" ky="0" algn="bl" rotWithShape="0" blurRad="114300" dist="38100" dir="8100000">
              <a:srgbClr val="0C2A3E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20" name="Shape 15"/>
          <p:cNvSpPr/>
          <p:nvPr/>
        </p:nvSpPr>
        <p:spPr>
          <a:xfrm>
            <a:off x="6644488" y="4389120"/>
            <a:ext cx="731520" cy="731520"/>
          </a:xfrm>
          <a:prstGeom prst="ellipse">
            <a:avLst/>
          </a:prstGeom>
          <a:solidFill>
            <a:srgbClr val="5E7484"/>
          </a:solidFill>
          <a:ln/>
          <a:effectLst>
            <a:outerShdw sx="100000" sy="100000" kx="0" ky="0" algn="bl" rotWithShape="0" blurRad="114300" dist="38100" dir="8100000">
              <a:srgbClr val="0C2A3E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41998" y="4586630"/>
            <a:ext cx="336499" cy="336499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604608" y="4407408"/>
            <a:ext cx="37184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A1D2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Guía humana</a:t>
            </a:r>
            <a:endParaRPr lang="en-US" sz="1900" dirty="0"/>
          </a:p>
        </p:txBody>
      </p:sp>
      <p:sp>
        <p:nvSpPr>
          <p:cNvPr id="23" name="Text 17"/>
          <p:cNvSpPr/>
          <p:nvPr/>
        </p:nvSpPr>
        <p:spPr>
          <a:xfrm>
            <a:off x="6662776" y="5138928"/>
            <a:ext cx="45047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44515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COMO-PEDIR.md e INSTRUCTIVO.md, más el contexto de empresa editable.</a:t>
            </a:r>
            <a:endParaRPr lang="en-US" sz="1350" dirty="0"/>
          </a:p>
        </p:txBody>
      </p:sp>
      <p:sp>
        <p:nvSpPr>
          <p:cNvPr id="24" name="Shape 18"/>
          <p:cNvSpPr/>
          <p:nvPr/>
        </p:nvSpPr>
        <p:spPr>
          <a:xfrm>
            <a:off x="640080" y="6419088"/>
            <a:ext cx="10911535" cy="0"/>
          </a:xfrm>
          <a:prstGeom prst="line">
            <a:avLst/>
          </a:prstGeom>
          <a:noFill/>
          <a:ln w="12700">
            <a:solidFill>
              <a:srgbClr val="DCE4EA"/>
            </a:solidFill>
            <a:prstDash val="solid"/>
          </a:ln>
        </p:spPr>
        <p:txBody>
          <a:bodyPr/>
          <a:p/>
        </p:txBody>
      </p:sp>
      <p:sp>
        <p:nvSpPr>
          <p:cNvPr id="25" name="Text 19"/>
          <p:cNvSpPr/>
          <p:nvPr/>
        </p:nvSpPr>
        <p:spPr>
          <a:xfrm>
            <a:off x="640080" y="645566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99A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Kit Chema</a:t>
            </a:r>
            <a:endParaRPr lang="en-US" sz="900" dirty="0"/>
          </a:p>
        </p:txBody>
      </p:sp>
      <p:sp>
        <p:nvSpPr>
          <p:cNvPr id="26" name="Text 20"/>
          <p:cNvSpPr/>
          <p:nvPr/>
        </p:nvSpPr>
        <p:spPr>
          <a:xfrm>
            <a:off x="9722815" y="645566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9A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03 / 12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00" kern="0" dirty="0">
                <a:solidFill>
                  <a:srgbClr val="DD853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04</a:t>
            </a:r>
            <a:pPr algn="l" indent="0" marL="0">
              <a:buNone/>
            </a:pPr>
            <a:r>
              <a:rPr lang="en-US" sz="1200" spc="100" kern="0" dirty="0">
                <a:solidFill>
                  <a:srgbClr val="8A99A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 xml:space="preserve">   En cada conversación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3000" b="1" dirty="0">
                <a:solidFill>
                  <a:srgbClr val="10568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 cada tarea: aclara, evalúa, calibra por riesgo y verifica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375372" y="2148840"/>
            <a:ext cx="914400" cy="914400"/>
          </a:xfrm>
          <a:prstGeom prst="ellipse">
            <a:avLst/>
          </a:prstGeom>
          <a:solidFill>
            <a:srgbClr val="105687"/>
          </a:solidFill>
          <a:ln/>
          <a:effectLst>
            <a:outerShdw sx="100000" sy="100000" kx="0" ky="0" algn="bl" rotWithShape="0" blurRad="114300" dist="38100" dir="8100000">
              <a:srgbClr val="0C2A3E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22260" y="2395728"/>
            <a:ext cx="420624" cy="42062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1978876" y="2093976"/>
            <a:ext cx="384048" cy="384048"/>
          </a:xfrm>
          <a:prstGeom prst="ellipse">
            <a:avLst/>
          </a:prstGeom>
          <a:solidFill>
            <a:srgbClr val="0C2A3E"/>
          </a:solidFill>
          <a:ln/>
        </p:spPr>
        <p:txBody>
          <a:bodyPr/>
          <a:p/>
        </p:txBody>
      </p:sp>
      <p:sp>
        <p:nvSpPr>
          <p:cNvPr id="7" name="Text 4"/>
          <p:cNvSpPr/>
          <p:nvPr/>
        </p:nvSpPr>
        <p:spPr>
          <a:xfrm>
            <a:off x="1978876" y="20939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640080" y="3200400"/>
            <a:ext cx="23849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500" b="1" dirty="0">
                <a:solidFill>
                  <a:srgbClr val="1A1D2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Arranque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640080" y="3776472"/>
            <a:ext cx="238498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44515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Confirma propósito, audiencia, formato y criterio de éxito antes de trabajar.</a:t>
            </a:r>
            <a:endParaRPr lang="en-US" sz="1250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25648" y="2478024"/>
            <a:ext cx="256032" cy="256032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217556" y="2148840"/>
            <a:ext cx="914400" cy="914400"/>
          </a:xfrm>
          <a:prstGeom prst="ellipse">
            <a:avLst/>
          </a:prstGeom>
          <a:solidFill>
            <a:srgbClr val="2E7CB8"/>
          </a:solidFill>
          <a:ln/>
          <a:effectLst>
            <a:outerShdw sx="100000" sy="100000" kx="0" ky="0" algn="bl" rotWithShape="0" blurRad="114300" dist="38100" dir="8100000">
              <a:srgbClr val="0C2A3E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64444" y="2395728"/>
            <a:ext cx="420624" cy="420624"/>
          </a:xfrm>
          <a:prstGeom prst="rect">
            <a:avLst/>
          </a:prstGeom>
        </p:spPr>
      </p:pic>
      <p:sp>
        <p:nvSpPr>
          <p:cNvPr id="13" name="Shape 8"/>
          <p:cNvSpPr/>
          <p:nvPr/>
        </p:nvSpPr>
        <p:spPr>
          <a:xfrm>
            <a:off x="4821060" y="2093976"/>
            <a:ext cx="384048" cy="384048"/>
          </a:xfrm>
          <a:prstGeom prst="ellipse">
            <a:avLst/>
          </a:prstGeom>
          <a:solidFill>
            <a:srgbClr val="0C2A3E"/>
          </a:solidFill>
          <a:ln/>
        </p:spPr>
        <p:txBody>
          <a:bodyPr/>
          <a:p/>
        </p:txBody>
      </p:sp>
      <p:sp>
        <p:nvSpPr>
          <p:cNvPr id="14" name="Text 9"/>
          <p:cNvSpPr/>
          <p:nvPr/>
        </p:nvSpPr>
        <p:spPr>
          <a:xfrm>
            <a:off x="4821060" y="20939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300" dirty="0"/>
          </a:p>
        </p:txBody>
      </p:sp>
      <p:sp>
        <p:nvSpPr>
          <p:cNvPr id="15" name="Text 10"/>
          <p:cNvSpPr/>
          <p:nvPr/>
        </p:nvSpPr>
        <p:spPr>
          <a:xfrm>
            <a:off x="3482264" y="3200400"/>
            <a:ext cx="23849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500" b="1" dirty="0">
                <a:solidFill>
                  <a:srgbClr val="1A1D2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Evaluación crítica</a:t>
            </a:r>
            <a:endParaRPr lang="en-US" sz="1500" dirty="0"/>
          </a:p>
        </p:txBody>
      </p:sp>
      <p:sp>
        <p:nvSpPr>
          <p:cNvPr id="16" name="Text 11"/>
          <p:cNvSpPr/>
          <p:nvPr/>
        </p:nvSpPr>
        <p:spPr>
          <a:xfrm>
            <a:off x="3482264" y="3776472"/>
            <a:ext cx="238498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44515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Qué está bien, qué le preocupa y qué haría él, antes de ejecutar.</a:t>
            </a:r>
            <a:endParaRPr lang="en-US" sz="1250" dirty="0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7832" y="2478024"/>
            <a:ext cx="256032" cy="256032"/>
          </a:xfrm>
          <a:prstGeom prst="rect">
            <a:avLst/>
          </a:prstGeom>
        </p:spPr>
      </p:pic>
      <p:sp>
        <p:nvSpPr>
          <p:cNvPr id="18" name="Shape 12"/>
          <p:cNvSpPr/>
          <p:nvPr/>
        </p:nvSpPr>
        <p:spPr>
          <a:xfrm>
            <a:off x="7059740" y="2148840"/>
            <a:ext cx="914400" cy="914400"/>
          </a:xfrm>
          <a:prstGeom prst="ellipse">
            <a:avLst/>
          </a:prstGeom>
          <a:solidFill>
            <a:srgbClr val="DD8533"/>
          </a:solidFill>
          <a:ln/>
          <a:effectLst>
            <a:outerShdw sx="100000" sy="100000" kx="0" ky="0" algn="bl" rotWithShape="0" blurRad="114300" dist="38100" dir="8100000">
              <a:srgbClr val="0C2A3E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19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06628" y="2395728"/>
            <a:ext cx="420624" cy="420624"/>
          </a:xfrm>
          <a:prstGeom prst="rect">
            <a:avLst/>
          </a:prstGeom>
        </p:spPr>
      </p:pic>
      <p:sp>
        <p:nvSpPr>
          <p:cNvPr id="20" name="Shape 13"/>
          <p:cNvSpPr/>
          <p:nvPr/>
        </p:nvSpPr>
        <p:spPr>
          <a:xfrm>
            <a:off x="7663244" y="2093976"/>
            <a:ext cx="384048" cy="384048"/>
          </a:xfrm>
          <a:prstGeom prst="ellipse">
            <a:avLst/>
          </a:prstGeom>
          <a:solidFill>
            <a:srgbClr val="0C2A3E"/>
          </a:solidFill>
          <a:ln/>
        </p:spPr>
        <p:txBody>
          <a:bodyPr/>
          <a:p/>
        </p:txBody>
      </p:sp>
      <p:sp>
        <p:nvSpPr>
          <p:cNvPr id="21" name="Text 14"/>
          <p:cNvSpPr/>
          <p:nvPr/>
        </p:nvSpPr>
        <p:spPr>
          <a:xfrm>
            <a:off x="7663244" y="20939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300" dirty="0"/>
          </a:p>
        </p:txBody>
      </p:sp>
      <p:sp>
        <p:nvSpPr>
          <p:cNvPr id="22" name="Text 15"/>
          <p:cNvSpPr/>
          <p:nvPr/>
        </p:nvSpPr>
        <p:spPr>
          <a:xfrm>
            <a:off x="6324448" y="3200400"/>
            <a:ext cx="23849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500" b="1" dirty="0">
                <a:solidFill>
                  <a:srgbClr val="1A1D2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Esfuerzo por riesgo</a:t>
            </a:r>
            <a:endParaRPr lang="en-US" sz="1500" dirty="0"/>
          </a:p>
        </p:txBody>
      </p:sp>
      <p:sp>
        <p:nvSpPr>
          <p:cNvPr id="23" name="Text 16"/>
          <p:cNvSpPr/>
          <p:nvPr/>
        </p:nvSpPr>
        <p:spPr>
          <a:xfrm>
            <a:off x="6324448" y="3776472"/>
            <a:ext cx="238498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44515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Trivial va directo; estándar usa playbook; lo caro dispara el council.</a:t>
            </a:r>
            <a:endParaRPr lang="en-US" sz="1250" dirty="0"/>
          </a:p>
        </p:txBody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10015" y="2478024"/>
            <a:ext cx="256032" cy="256032"/>
          </a:xfrm>
          <a:prstGeom prst="rect">
            <a:avLst/>
          </a:prstGeom>
        </p:spPr>
      </p:pic>
      <p:sp>
        <p:nvSpPr>
          <p:cNvPr id="25" name="Shape 17"/>
          <p:cNvSpPr/>
          <p:nvPr/>
        </p:nvSpPr>
        <p:spPr>
          <a:xfrm>
            <a:off x="9901923" y="2148840"/>
            <a:ext cx="914400" cy="914400"/>
          </a:xfrm>
          <a:prstGeom prst="ellipse">
            <a:avLst/>
          </a:prstGeom>
          <a:solidFill>
            <a:srgbClr val="1E8A4C"/>
          </a:solidFill>
          <a:ln/>
          <a:effectLst>
            <a:outerShdw sx="100000" sy="100000" kx="0" ky="0" algn="bl" rotWithShape="0" blurRad="114300" dist="38100" dir="8100000">
              <a:srgbClr val="0C2A3E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26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148811" y="2395728"/>
            <a:ext cx="420624" cy="420624"/>
          </a:xfrm>
          <a:prstGeom prst="rect">
            <a:avLst/>
          </a:prstGeom>
        </p:spPr>
      </p:pic>
      <p:sp>
        <p:nvSpPr>
          <p:cNvPr id="27" name="Shape 18"/>
          <p:cNvSpPr/>
          <p:nvPr/>
        </p:nvSpPr>
        <p:spPr>
          <a:xfrm>
            <a:off x="10505427" y="2093976"/>
            <a:ext cx="384048" cy="384048"/>
          </a:xfrm>
          <a:prstGeom prst="ellipse">
            <a:avLst/>
          </a:prstGeom>
          <a:solidFill>
            <a:srgbClr val="0C2A3E"/>
          </a:solidFill>
          <a:ln/>
        </p:spPr>
        <p:txBody>
          <a:bodyPr/>
          <a:p/>
        </p:txBody>
      </p:sp>
      <p:sp>
        <p:nvSpPr>
          <p:cNvPr id="28" name="Text 19"/>
          <p:cNvSpPr/>
          <p:nvPr/>
        </p:nvSpPr>
        <p:spPr>
          <a:xfrm>
            <a:off x="10505427" y="20939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1300" dirty="0"/>
          </a:p>
        </p:txBody>
      </p:sp>
      <p:sp>
        <p:nvSpPr>
          <p:cNvPr id="29" name="Text 20"/>
          <p:cNvSpPr/>
          <p:nvPr/>
        </p:nvSpPr>
        <p:spPr>
          <a:xfrm>
            <a:off x="9166631" y="3200400"/>
            <a:ext cx="23849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500" b="1" dirty="0">
                <a:solidFill>
                  <a:srgbClr val="1A1D2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Terminado = verificado</a:t>
            </a:r>
            <a:endParaRPr lang="en-US" sz="1500" dirty="0"/>
          </a:p>
        </p:txBody>
      </p:sp>
      <p:sp>
        <p:nvSpPr>
          <p:cNvPr id="30" name="Text 21"/>
          <p:cNvSpPr/>
          <p:nvPr/>
        </p:nvSpPr>
        <p:spPr>
          <a:xfrm>
            <a:off x="9166631" y="3776472"/>
            <a:ext cx="238498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44515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Nada se declara listo sin comprobarlo; reporta lo que quedó fuera.</a:t>
            </a:r>
            <a:endParaRPr lang="en-US" sz="1250" dirty="0"/>
          </a:p>
        </p:txBody>
      </p:sp>
      <p:sp>
        <p:nvSpPr>
          <p:cNvPr id="31" name="Shape 22"/>
          <p:cNvSpPr/>
          <p:nvPr/>
        </p:nvSpPr>
        <p:spPr>
          <a:xfrm>
            <a:off x="640080" y="6419088"/>
            <a:ext cx="10911535" cy="0"/>
          </a:xfrm>
          <a:prstGeom prst="line">
            <a:avLst/>
          </a:prstGeom>
          <a:noFill/>
          <a:ln w="12700">
            <a:solidFill>
              <a:srgbClr val="DCE4EA"/>
            </a:solidFill>
            <a:prstDash val="solid"/>
          </a:ln>
        </p:spPr>
        <p:txBody>
          <a:bodyPr/>
          <a:p/>
        </p:txBody>
      </p:sp>
      <p:sp>
        <p:nvSpPr>
          <p:cNvPr id="32" name="Text 23"/>
          <p:cNvSpPr/>
          <p:nvPr/>
        </p:nvSpPr>
        <p:spPr>
          <a:xfrm>
            <a:off x="640080" y="645566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99A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Kit Chema</a:t>
            </a:r>
            <a:endParaRPr lang="en-US" sz="900" dirty="0"/>
          </a:p>
        </p:txBody>
      </p:sp>
      <p:sp>
        <p:nvSpPr>
          <p:cNvPr id="33" name="Text 24"/>
          <p:cNvSpPr/>
          <p:nvPr/>
        </p:nvSpPr>
        <p:spPr>
          <a:xfrm>
            <a:off x="9722815" y="645566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9A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04 / 12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00" kern="0" dirty="0">
                <a:solidFill>
                  <a:srgbClr val="DD853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05</a:t>
            </a:r>
            <a:pPr algn="l" indent="0" marL="0">
              <a:buNone/>
            </a:pPr>
            <a:r>
              <a:rPr lang="en-US" sz="1200" spc="100" kern="0" dirty="0">
                <a:solidFill>
                  <a:srgbClr val="8A99A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 xml:space="preserve">   Los playbooks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3000" b="1" dirty="0">
                <a:solidFill>
                  <a:srgbClr val="10568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Siete playbooks: cada dominio con lo que garantiza</a:t>
            </a:r>
            <a:endParaRPr lang="en-US" sz="30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737360"/>
          <a:ext cx="10911535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8168335"/>
              </a:tblGrid>
              <a:tr h="4846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Dominio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2A3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Qué garantiza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2A3E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05687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Presentaciones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6434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audiencia y objetivo antes del diseño; una idea por lámina; cada cifra con fuente</a:t>
                      </a:r>
                      <a:endParaRPr lang="en-US" sz="12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05687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Análisis de datos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6434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revisa la calidad del dato antes de concluir; separa el hecho de la interpretación</a:t>
                      </a:r>
                      <a:endParaRPr lang="en-US" sz="12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6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05687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Research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6434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cada afirmación con fuente y fecha; cruza dos fuentes; marca lo de una sola</a:t>
                      </a:r>
                      <a:endParaRPr lang="en-US" sz="12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05687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Código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6434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lee el código antes de escribir; corre con datos reales; higiene anti-contaminación</a:t>
                      </a:r>
                      <a:endParaRPr lang="en-US" sz="12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6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05687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Propuestas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6434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problema, opciones, costos, recomendación y reversión; council con veredicto</a:t>
                      </a:r>
                      <a:endParaRPr lang="en-US" sz="12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05687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Finanzas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6434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supuestos aparte; recalcula cada cifra; escenarios, no un número único</a:t>
                      </a:r>
                      <a:endParaRPr lang="en-US" sz="12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6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05687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Automatización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6434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define disparador, entradas y salidas; deja escrito cómo apagarlo</a:t>
                      </a:r>
                      <a:endParaRPr lang="en-US" sz="12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40080" y="598932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8A99A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tienes que nombrarlas: basta con describir la tarea y el kit elige la skill.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640080" y="6419088"/>
            <a:ext cx="10911535" cy="0"/>
          </a:xfrm>
          <a:prstGeom prst="line">
            <a:avLst/>
          </a:prstGeom>
          <a:noFill/>
          <a:ln w="12700">
            <a:solidFill>
              <a:srgbClr val="DCE4EA"/>
            </a:solidFill>
            <a:prstDash val="solid"/>
          </a:ln>
        </p:spPr>
        <p:txBody>
          <a:bodyPr/>
          <a:p/>
        </p:txBody>
      </p:sp>
      <p:sp>
        <p:nvSpPr>
          <p:cNvPr id="7" name="Text 4"/>
          <p:cNvSpPr/>
          <p:nvPr/>
        </p:nvSpPr>
        <p:spPr>
          <a:xfrm>
            <a:off x="640080" y="645566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99A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Kit Chema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9722815" y="645566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9A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05 / 12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00" kern="0" dirty="0">
                <a:solidFill>
                  <a:srgbClr val="DD853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06</a:t>
            </a:r>
            <a:pPr algn="l" indent="0" marL="0">
              <a:buNone/>
            </a:pPr>
            <a:r>
              <a:rPr lang="en-US" sz="1200" spc="100" kern="0" dirty="0">
                <a:solidFill>
                  <a:srgbClr val="8A99A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 xml:space="preserve">   El Council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3000" b="1" dirty="0">
                <a:solidFill>
                  <a:srgbClr val="10568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 Council juzga lo que importa, sin inventar problemas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920240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100" kern="0" dirty="0">
                <a:solidFill>
                  <a:srgbClr val="DD853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cuándo corre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640080" y="2231136"/>
            <a:ext cx="6400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36434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Cuando dices "council", cuando la decisión es cara o irreversible, o cuando el material sale de la empresa.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3090672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100" kern="0" dirty="0">
                <a:solidFill>
                  <a:srgbClr val="DD853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cómo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640080" y="3401568"/>
            <a:ext cx="6400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36434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 a 5 evaluadores independientes con contexto fresco, un lente cada uno: viabilidad, costo/beneficio, riesgos, abogado del diablo.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4261104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100" kern="0" dirty="0">
                <a:solidFill>
                  <a:srgbClr val="DD853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mandato con proporcionalidad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640080" y="4572000"/>
            <a:ext cx="6400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36434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Solo hallazgos con evidencia que cambien la decisión, ponderados contra el tamaño y la reversibilidad. "Sin hallazgos relevantes" es válido.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498080" y="1920240"/>
            <a:ext cx="405353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100" kern="0" dirty="0">
                <a:solidFill>
                  <a:srgbClr val="8A99A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veredictos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7498080" y="2304288"/>
            <a:ext cx="4053535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CE4EA"/>
            </a:solidFill>
            <a:prstDash val="solid"/>
          </a:ln>
        </p:spPr>
        <p:txBody>
          <a:bodyPr/>
          <a:p/>
        </p:txBody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44384" y="2423160"/>
            <a:ext cx="237744" cy="237744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8001000" y="2304288"/>
            <a:ext cx="341345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8A4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aprobada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7498080" y="2871216"/>
            <a:ext cx="4053535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CE4EA"/>
            </a:solidFill>
            <a:prstDash val="solid"/>
          </a:ln>
        </p:spPr>
        <p:txBody>
          <a:bodyPr/>
          <a:p/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44384" y="2990088"/>
            <a:ext cx="237744" cy="237744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8001000" y="2871216"/>
            <a:ext cx="341345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DD85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aprobada con cambios</a:t>
            </a:r>
            <a:endParaRPr lang="en-US" sz="1400" dirty="0"/>
          </a:p>
        </p:txBody>
      </p:sp>
      <p:sp>
        <p:nvSpPr>
          <p:cNvPr id="17" name="Shape 13"/>
          <p:cNvSpPr/>
          <p:nvPr/>
        </p:nvSpPr>
        <p:spPr>
          <a:xfrm>
            <a:off x="7498080" y="3438144"/>
            <a:ext cx="4053535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CE4EA"/>
            </a:solidFill>
            <a:prstDash val="solid"/>
          </a:ln>
        </p:spPr>
        <p:txBody>
          <a:bodyPr/>
          <a:p/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44384" y="3557016"/>
            <a:ext cx="237744" cy="237744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001000" y="3438144"/>
            <a:ext cx="341345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EC22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rechazada</a:t>
            </a:r>
            <a:endParaRPr lang="en-US" sz="1400" dirty="0"/>
          </a:p>
        </p:txBody>
      </p:sp>
      <p:sp>
        <p:nvSpPr>
          <p:cNvPr id="20" name="Shape 15"/>
          <p:cNvSpPr/>
          <p:nvPr/>
        </p:nvSpPr>
        <p:spPr>
          <a:xfrm>
            <a:off x="7498080" y="4169664"/>
            <a:ext cx="4053535" cy="1481328"/>
          </a:xfrm>
          <a:prstGeom prst="rect">
            <a:avLst/>
          </a:prstGeom>
          <a:solidFill>
            <a:srgbClr val="0C2A3E"/>
          </a:solidFill>
          <a:ln/>
          <a:effectLst>
            <a:outerShdw sx="100000" sy="100000" kx="0" ky="0" algn="bl" rotWithShape="0" blurRad="114300" dist="38100" dir="8100000">
              <a:srgbClr val="0C2A3E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99248" y="4407408"/>
            <a:ext cx="310896" cy="310896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8119872" y="4370832"/>
            <a:ext cx="32305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EFA9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Probado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7699248" y="4828032"/>
            <a:ext cx="3651199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CFDBE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Cazó un error de cálculo 50× plantado (rechazada) y aprobó una propuesta sólida sin inventarle objeciones.</a:t>
            </a:r>
            <a:endParaRPr lang="en-US" sz="1200" dirty="0"/>
          </a:p>
        </p:txBody>
      </p:sp>
      <p:sp>
        <p:nvSpPr>
          <p:cNvPr id="24" name="Shape 18"/>
          <p:cNvSpPr/>
          <p:nvPr/>
        </p:nvSpPr>
        <p:spPr>
          <a:xfrm>
            <a:off x="640080" y="6419088"/>
            <a:ext cx="10911535" cy="0"/>
          </a:xfrm>
          <a:prstGeom prst="line">
            <a:avLst/>
          </a:prstGeom>
          <a:noFill/>
          <a:ln w="12700">
            <a:solidFill>
              <a:srgbClr val="DCE4EA"/>
            </a:solidFill>
            <a:prstDash val="solid"/>
          </a:ln>
        </p:spPr>
        <p:txBody>
          <a:bodyPr/>
          <a:p/>
        </p:txBody>
      </p:sp>
      <p:sp>
        <p:nvSpPr>
          <p:cNvPr id="25" name="Text 19"/>
          <p:cNvSpPr/>
          <p:nvPr/>
        </p:nvSpPr>
        <p:spPr>
          <a:xfrm>
            <a:off x="640080" y="645566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99A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Kit Chema</a:t>
            </a:r>
            <a:endParaRPr lang="en-US" sz="900" dirty="0"/>
          </a:p>
        </p:txBody>
      </p:sp>
      <p:sp>
        <p:nvSpPr>
          <p:cNvPr id="26" name="Text 20"/>
          <p:cNvSpPr/>
          <p:nvPr/>
        </p:nvSpPr>
        <p:spPr>
          <a:xfrm>
            <a:off x="9722815" y="645566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9A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06 / 12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00" kern="0" dirty="0">
                <a:solidFill>
                  <a:srgbClr val="DD853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07</a:t>
            </a:r>
            <a:pPr algn="l" indent="0" marL="0">
              <a:buNone/>
            </a:pPr>
            <a:r>
              <a:rPr lang="en-US" sz="1200" spc="100" kern="0" dirty="0">
                <a:solidFill>
                  <a:srgbClr val="8A99A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 xml:space="preserve">   Higiene de código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3000" b="1" dirty="0">
                <a:solidFill>
                  <a:srgbClr val="10568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 código no se contamina: seis reglas de higiene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5272888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DCE4EA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896112" y="2194560"/>
            <a:ext cx="640080" cy="640080"/>
          </a:xfrm>
          <a:prstGeom prst="ellipse">
            <a:avLst/>
          </a:prstGeom>
          <a:solidFill>
            <a:srgbClr val="105687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896112" y="21945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737360" y="2084832"/>
            <a:ext cx="39470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1A1D2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Reutilizar antes de crear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1737360" y="2468880"/>
            <a:ext cx="39470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44515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Grep primero, escribir después: si ya existe, se usa o se extiende.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278728" y="1920240"/>
            <a:ext cx="5272888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DCE4EA"/>
            </a:solidFill>
            <a:prstDash val="solid"/>
          </a:ln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6534760" y="2194560"/>
            <a:ext cx="640080" cy="640080"/>
          </a:xfrm>
          <a:prstGeom prst="ellipse">
            <a:avLst/>
          </a:prstGeom>
          <a:solidFill>
            <a:srgbClr val="105687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534760" y="21945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7376008" y="2084832"/>
            <a:ext cx="39470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1A1D2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Respetar el estilo del repo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7376008" y="2468880"/>
            <a:ext cx="39470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44515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Mismo naming y patrones que el código que ya está, aunque no te guste.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40080" y="3328416"/>
            <a:ext cx="5272888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DCE4EA"/>
            </a:solidFill>
            <a:prstDash val="solid"/>
          </a:ln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896112" y="3602736"/>
            <a:ext cx="640080" cy="640080"/>
          </a:xfrm>
          <a:prstGeom prst="ellipse">
            <a:avLst/>
          </a:prstGeom>
          <a:solidFill>
            <a:srgbClr val="105687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" y="3602736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737360" y="3493008"/>
            <a:ext cx="39470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1A1D2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Nada de refactors no pedidos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1737360" y="3877056"/>
            <a:ext cx="39470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44515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 que convenga cambiar se propone aparte, no se cuela en el cambio.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278728" y="3328416"/>
            <a:ext cx="5272888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DCE4EA"/>
            </a:solidFill>
            <a:prstDash val="solid"/>
          </a:ln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6534760" y="3602736"/>
            <a:ext cx="640080" cy="640080"/>
          </a:xfrm>
          <a:prstGeom prst="ellipse">
            <a:avLst/>
          </a:prstGeom>
          <a:solidFill>
            <a:srgbClr val="105687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6534760" y="3602736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7376008" y="3493008"/>
            <a:ext cx="39470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1A1D2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Cero residuos</a:t>
            </a:r>
            <a:endParaRPr lang="en-US" sz="1550" dirty="0"/>
          </a:p>
        </p:txBody>
      </p:sp>
      <p:sp>
        <p:nvSpPr>
          <p:cNvPr id="23" name="Text 21"/>
          <p:cNvSpPr/>
          <p:nvPr/>
        </p:nvSpPr>
        <p:spPr>
          <a:xfrm>
            <a:off x="7376008" y="3877056"/>
            <a:ext cx="39470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44515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Sin código muerto, prints de debug ni archivos de prueba al terminar.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640080" y="4736592"/>
            <a:ext cx="5272888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DCE4EA"/>
            </a:solidFill>
            <a:prstDash val="solid"/>
          </a:ln>
        </p:spPr>
        <p:txBody>
          <a:bodyPr/>
          <a:p/>
        </p:txBody>
      </p:sp>
      <p:sp>
        <p:nvSpPr>
          <p:cNvPr id="25" name="Shape 23"/>
          <p:cNvSpPr/>
          <p:nvPr/>
        </p:nvSpPr>
        <p:spPr>
          <a:xfrm>
            <a:off x="896112" y="5010912"/>
            <a:ext cx="640080" cy="640080"/>
          </a:xfrm>
          <a:prstGeom prst="ellipse">
            <a:avLst/>
          </a:prstGeom>
          <a:solidFill>
            <a:srgbClr val="105687"/>
          </a:solidFill>
          <a:ln/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896112" y="501091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1737360" y="4901184"/>
            <a:ext cx="39470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1A1D2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Dependencias justificadas</a:t>
            </a:r>
            <a:endParaRPr lang="en-US" sz="1550" dirty="0"/>
          </a:p>
        </p:txBody>
      </p:sp>
      <p:sp>
        <p:nvSpPr>
          <p:cNvPr id="28" name="Text 26"/>
          <p:cNvSpPr/>
          <p:nvPr/>
        </p:nvSpPr>
        <p:spPr>
          <a:xfrm>
            <a:off x="1737360" y="5285232"/>
            <a:ext cx="39470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44515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Cada una en una línea y sin duplicar lo que el proyecto ya tiene.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6278728" y="4736592"/>
            <a:ext cx="5272888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DCE4EA"/>
            </a:solidFill>
            <a:prstDash val="solid"/>
          </a:ln>
        </p:spPr>
        <p:txBody>
          <a:bodyPr/>
          <a:p/>
        </p:txBody>
      </p:sp>
      <p:sp>
        <p:nvSpPr>
          <p:cNvPr id="30" name="Shape 28"/>
          <p:cNvSpPr/>
          <p:nvPr/>
        </p:nvSpPr>
        <p:spPr>
          <a:xfrm>
            <a:off x="6534760" y="5010912"/>
            <a:ext cx="640080" cy="640080"/>
          </a:xfrm>
          <a:prstGeom prst="ellipse">
            <a:avLst/>
          </a:prstGeom>
          <a:solidFill>
            <a:srgbClr val="105687"/>
          </a:solidFill>
          <a:ln/>
        </p:spPr>
        <p:txBody>
          <a:bodyPr/>
          <a:p/>
        </p:txBody>
      </p:sp>
      <p:sp>
        <p:nvSpPr>
          <p:cNvPr id="31" name="Text 29"/>
          <p:cNvSpPr/>
          <p:nvPr/>
        </p:nvSpPr>
        <p:spPr>
          <a:xfrm>
            <a:off x="6534760" y="501091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7376008" y="4901184"/>
            <a:ext cx="39470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1A1D2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Revisar el diff completo</a:t>
            </a:r>
            <a:endParaRPr lang="en-US" sz="1550" dirty="0"/>
          </a:p>
        </p:txBody>
      </p:sp>
      <p:sp>
        <p:nvSpPr>
          <p:cNvPr id="33" name="Text 31"/>
          <p:cNvSpPr/>
          <p:nvPr/>
        </p:nvSpPr>
        <p:spPr>
          <a:xfrm>
            <a:off x="7376008" y="5285232"/>
            <a:ext cx="39470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44515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 lee todo antes del commit; lo que no aporta, fuera.</a:t>
            </a:r>
            <a:endParaRPr lang="en-US" sz="1250" dirty="0"/>
          </a:p>
        </p:txBody>
      </p:sp>
      <p:sp>
        <p:nvSpPr>
          <p:cNvPr id="34" name="Shape 32"/>
          <p:cNvSpPr/>
          <p:nvPr/>
        </p:nvSpPr>
        <p:spPr>
          <a:xfrm>
            <a:off x="640080" y="6419088"/>
            <a:ext cx="10911535" cy="0"/>
          </a:xfrm>
          <a:prstGeom prst="line">
            <a:avLst/>
          </a:prstGeom>
          <a:noFill/>
          <a:ln w="12700">
            <a:solidFill>
              <a:srgbClr val="DCE4EA"/>
            </a:solidFill>
            <a:prstDash val="solid"/>
          </a:ln>
        </p:spPr>
        <p:txBody>
          <a:bodyPr/>
          <a:p/>
        </p:txBody>
      </p:sp>
      <p:sp>
        <p:nvSpPr>
          <p:cNvPr id="35" name="Text 33"/>
          <p:cNvSpPr/>
          <p:nvPr/>
        </p:nvSpPr>
        <p:spPr>
          <a:xfrm>
            <a:off x="640080" y="645566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99A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Kit Chema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9722815" y="645566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9A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07 / 12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00" kern="0" dirty="0">
                <a:solidFill>
                  <a:srgbClr val="DD853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08</a:t>
            </a:r>
            <a:pPr algn="l" indent="0" marL="0">
              <a:buNone/>
            </a:pPr>
            <a:r>
              <a:rPr lang="en-US" sz="1200" spc="100" kern="0" dirty="0">
                <a:solidFill>
                  <a:srgbClr val="8A99A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 xml:space="preserve">   Cómo pedir bien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3000" b="1" dirty="0">
                <a:solidFill>
                  <a:srgbClr val="10568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Pedir bien es la mitad del resultado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965960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0568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Anatomía de una petición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2514600"/>
            <a:ext cx="288036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2E7CB8"/>
            </a:solidFill>
            <a:prstDash val="solid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841248" y="2734056"/>
            <a:ext cx="109728" cy="109728"/>
          </a:xfrm>
          <a:prstGeom prst="ellipse">
            <a:avLst/>
          </a:prstGeom>
          <a:solidFill>
            <a:srgbClr val="DD8533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1097280" y="251460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A1D2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Objetivo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3794760" y="2514600"/>
            <a:ext cx="288036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2E7CB8"/>
            </a:solidFill>
            <a:prstDash val="solid"/>
          </a:ln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3995928" y="2734056"/>
            <a:ext cx="109728" cy="109728"/>
          </a:xfrm>
          <a:prstGeom prst="ellipse">
            <a:avLst/>
          </a:prstGeom>
          <a:solidFill>
            <a:srgbClr val="DD8533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4251960" y="251460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A1D2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Contexto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640080" y="3246120"/>
            <a:ext cx="288036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2E7CB8"/>
            </a:solidFill>
            <a:prstDash val="solid"/>
          </a:ln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841248" y="3465576"/>
            <a:ext cx="109728" cy="109728"/>
          </a:xfrm>
          <a:prstGeom prst="ellipse">
            <a:avLst/>
          </a:prstGeom>
          <a:solidFill>
            <a:srgbClr val="DD8533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1097280" y="324612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A1D2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Audiencia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3794760" y="3246120"/>
            <a:ext cx="288036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2E7CB8"/>
            </a:solidFill>
            <a:prstDash val="solid"/>
          </a:ln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3995928" y="3465576"/>
            <a:ext cx="109728" cy="109728"/>
          </a:xfrm>
          <a:prstGeom prst="ellipse">
            <a:avLst/>
          </a:prstGeom>
          <a:solidFill>
            <a:srgbClr val="DD8533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4251960" y="324612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A1D2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Formato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640080" y="3977640"/>
            <a:ext cx="288036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2E7CB8"/>
            </a:solidFill>
            <a:prstDash val="solid"/>
          </a:ln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841248" y="4197096"/>
            <a:ext cx="109728" cy="109728"/>
          </a:xfrm>
          <a:prstGeom prst="ellipse">
            <a:avLst/>
          </a:prstGeom>
          <a:solidFill>
            <a:srgbClr val="DD8533"/>
          </a:solidFill>
          <a:ln/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1097280" y="397764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A1D2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Criterio de éxito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3794760" y="3977640"/>
            <a:ext cx="288036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2E7CB8"/>
            </a:solidFill>
            <a:prstDash val="solid"/>
          </a:ln>
        </p:spPr>
        <p:txBody>
          <a:bodyPr/>
          <a:p/>
        </p:txBody>
      </p:sp>
      <p:sp>
        <p:nvSpPr>
          <p:cNvPr id="21" name="Shape 19"/>
          <p:cNvSpPr/>
          <p:nvPr/>
        </p:nvSpPr>
        <p:spPr>
          <a:xfrm>
            <a:off x="3995928" y="4197096"/>
            <a:ext cx="109728" cy="109728"/>
          </a:xfrm>
          <a:prstGeom prst="ellipse">
            <a:avLst/>
          </a:prstGeom>
          <a:solidFill>
            <a:srgbClr val="DD8533"/>
          </a:solidFill>
          <a:ln/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4251960" y="397764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A1D2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Fecha límite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640080" y="4754880"/>
            <a:ext cx="603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i="1" dirty="0">
                <a:solidFill>
                  <a:srgbClr val="8A99A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COMO-PEDIR.md trae plantillas por dominio para copiar y rellenar.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7132320" y="1965960"/>
            <a:ext cx="4419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0568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Dos palabras estrella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7132320" y="2514600"/>
            <a:ext cx="4419295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4EA"/>
            </a:solidFill>
            <a:prstDash val="solid"/>
          </a:ln>
          <a:effectLst>
            <a:outerShdw sx="100000" sy="100000" kx="0" ky="0" algn="bl" rotWithShape="0" blurRad="114300" dist="38100" dir="8100000">
              <a:srgbClr val="0C2A3E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26" name="Shape 24"/>
          <p:cNvSpPr/>
          <p:nvPr/>
        </p:nvSpPr>
        <p:spPr>
          <a:xfrm>
            <a:off x="7132320" y="2514600"/>
            <a:ext cx="82296" cy="1280160"/>
          </a:xfrm>
          <a:prstGeom prst="rect">
            <a:avLst/>
          </a:prstGeom>
          <a:solidFill>
            <a:srgbClr val="DD8533"/>
          </a:solidFill>
          <a:ln/>
        </p:spPr>
        <p:txBody>
          <a:bodyPr/>
          <a:p/>
        </p:txBody>
      </p:sp>
      <p:sp>
        <p:nvSpPr>
          <p:cNvPr id="27" name="Shape 25"/>
          <p:cNvSpPr/>
          <p:nvPr/>
        </p:nvSpPr>
        <p:spPr>
          <a:xfrm>
            <a:off x="7406640" y="2926080"/>
            <a:ext cx="1554480" cy="457200"/>
          </a:xfrm>
          <a:prstGeom prst="roundRect">
            <a:avLst>
              <a:gd name="adj" fmla="val 12000"/>
            </a:avLst>
          </a:prstGeom>
          <a:solidFill>
            <a:srgbClr val="0C2A3E"/>
          </a:solidFill>
          <a:ln/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7406640" y="292608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FA95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council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9144000" y="2624328"/>
            <a:ext cx="2179015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36434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Fuerza el panel de evaluación con veredicto. Úsala en decisiones caras o material que sale de la empresa.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7132320" y="3959352"/>
            <a:ext cx="4419295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4EA"/>
            </a:solidFill>
            <a:prstDash val="solid"/>
          </a:ln>
          <a:effectLst>
            <a:outerShdw sx="100000" sy="100000" kx="0" ky="0" algn="bl" rotWithShape="0" blurRad="114300" dist="38100" dir="8100000">
              <a:srgbClr val="0C2A3E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31" name="Shape 29"/>
          <p:cNvSpPr/>
          <p:nvPr/>
        </p:nvSpPr>
        <p:spPr>
          <a:xfrm>
            <a:off x="7132320" y="3959352"/>
            <a:ext cx="82296" cy="1280160"/>
          </a:xfrm>
          <a:prstGeom prst="rect">
            <a:avLst/>
          </a:prstGeom>
          <a:solidFill>
            <a:srgbClr val="DD8533"/>
          </a:solidFill>
          <a:ln/>
        </p:spPr>
        <p:txBody>
          <a:bodyPr/>
          <a:p/>
        </p:txBody>
      </p:sp>
      <p:sp>
        <p:nvSpPr>
          <p:cNvPr id="32" name="Shape 30"/>
          <p:cNvSpPr/>
          <p:nvPr/>
        </p:nvSpPr>
        <p:spPr>
          <a:xfrm>
            <a:off x="7406640" y="4370832"/>
            <a:ext cx="1554480" cy="457200"/>
          </a:xfrm>
          <a:prstGeom prst="roundRect">
            <a:avLst>
              <a:gd name="adj" fmla="val 12000"/>
            </a:avLst>
          </a:prstGeom>
          <a:solidFill>
            <a:srgbClr val="0C2A3E"/>
          </a:solidFill>
          <a:ln/>
        </p:spPr>
        <p:txBody>
          <a:bodyPr/>
          <a:p/>
        </p:txBody>
      </p:sp>
      <p:sp>
        <p:nvSpPr>
          <p:cNvPr id="33" name="Text 31"/>
          <p:cNvSpPr/>
          <p:nvPr/>
        </p:nvSpPr>
        <p:spPr>
          <a:xfrm>
            <a:off x="7406640" y="4370832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FA95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final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9144000" y="4069080"/>
            <a:ext cx="2179015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36434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Exige el checklist completo del playbook: la versión revisada y lista para entregar.</a:t>
            </a:r>
            <a:endParaRPr lang="en-US" sz="1250" dirty="0"/>
          </a:p>
        </p:txBody>
      </p:sp>
      <p:sp>
        <p:nvSpPr>
          <p:cNvPr id="35" name="Shape 33"/>
          <p:cNvSpPr/>
          <p:nvPr/>
        </p:nvSpPr>
        <p:spPr>
          <a:xfrm>
            <a:off x="640080" y="6419088"/>
            <a:ext cx="10911535" cy="0"/>
          </a:xfrm>
          <a:prstGeom prst="line">
            <a:avLst/>
          </a:prstGeom>
          <a:noFill/>
          <a:ln w="12700">
            <a:solidFill>
              <a:srgbClr val="DCE4EA"/>
            </a:solidFill>
            <a:prstDash val="solid"/>
          </a:ln>
        </p:spPr>
        <p:txBody>
          <a:bodyPr/>
          <a:p/>
        </p:txBody>
      </p:sp>
      <p:sp>
        <p:nvSpPr>
          <p:cNvPr id="36" name="Text 34"/>
          <p:cNvSpPr/>
          <p:nvPr/>
        </p:nvSpPr>
        <p:spPr>
          <a:xfrm>
            <a:off x="640080" y="645566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99A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Kit Chema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9722815" y="645566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9A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08 / 12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00" kern="0" dirty="0">
                <a:solidFill>
                  <a:srgbClr val="DD853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09</a:t>
            </a:r>
            <a:pPr algn="l" indent="0" marL="0">
              <a:buNone/>
            </a:pPr>
            <a:r>
              <a:rPr lang="en-US" sz="1200" spc="100" kern="0" dirty="0">
                <a:solidFill>
                  <a:srgbClr val="8A99A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 xml:space="preserve">   Demo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3000" b="1" dirty="0">
                <a:solidFill>
                  <a:srgbClr val="10568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 misma tarea, floja y bien pedida: se nota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5227168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4EA"/>
            </a:solidFill>
            <a:prstDash val="solid"/>
          </a:ln>
          <a:effectLst>
            <a:outerShdw sx="100000" sy="100000" kx="0" ky="0" algn="bl" rotWithShape="0" blurRad="114300" dist="38100" dir="8100000">
              <a:srgbClr val="0C2A3E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640080" y="1920240"/>
            <a:ext cx="5227168" cy="566928"/>
          </a:xfrm>
          <a:prstGeom prst="rect">
            <a:avLst/>
          </a:prstGeom>
          <a:solidFill>
            <a:srgbClr val="C6404A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914400" y="1920240"/>
            <a:ext cx="46785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Petición floja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14400" y="2697480"/>
            <a:ext cx="46785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1A1D2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"Hazme una presentación bonita sobre IA."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14400" y="4251960"/>
            <a:ext cx="4678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100" kern="0" dirty="0">
                <a:solidFill>
                  <a:srgbClr val="8A99A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Resultado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914400" y="4572000"/>
            <a:ext cx="467852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44515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Algo bonito y vacío que tendrás que rehacer.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324448" y="1920240"/>
            <a:ext cx="5227168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4EA"/>
            </a:solidFill>
            <a:prstDash val="solid"/>
          </a:ln>
          <a:effectLst>
            <a:outerShdw sx="100000" sy="100000" kx="0" ky="0" algn="bl" rotWithShape="0" blurRad="114300" dist="38100" dir="8100000">
              <a:srgbClr val="0C2A3E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6324448" y="1920240"/>
            <a:ext cx="5227168" cy="566928"/>
          </a:xfrm>
          <a:prstGeom prst="rect">
            <a:avLst/>
          </a:prstGeom>
          <a:solidFill>
            <a:srgbClr val="105687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598768" y="1920240"/>
            <a:ext cx="46785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Petición buena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598768" y="2633472"/>
            <a:ext cx="4678528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A1D2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"Deck para el comité de Ordenaris (no técnicos); objetivo: que aprueben un piloto de IA. Contexto: informe adjunto. Formato: 12 láminas con marca Innovattia. Está bien si entienden el retorno y los riesgos. Fecha: viernes."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598768" y="4251960"/>
            <a:ext cx="4678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100" kern="0" dirty="0">
                <a:solidFill>
                  <a:srgbClr val="1E8A4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Resultado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598768" y="4572000"/>
            <a:ext cx="467852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44515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Algo que puedes llevar a la reunión.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640080" y="585216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i="1" dirty="0">
                <a:solidFill>
                  <a:srgbClr val="10568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 diferencia no es el modelo, es cómo pides.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40080" y="6419088"/>
            <a:ext cx="10911535" cy="0"/>
          </a:xfrm>
          <a:prstGeom prst="line">
            <a:avLst/>
          </a:prstGeom>
          <a:noFill/>
          <a:ln w="12700">
            <a:solidFill>
              <a:srgbClr val="DCE4EA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640080" y="645566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99A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Kit Chema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9722815" y="645566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9A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09 / 12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00" kern="0" dirty="0">
                <a:solidFill>
                  <a:srgbClr val="DD853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10</a:t>
            </a:r>
            <a:pPr algn="l" indent="0" marL="0">
              <a:buNone/>
            </a:pPr>
            <a:r>
              <a:rPr lang="en-US" sz="1200" spc="100" kern="0" dirty="0">
                <a:solidFill>
                  <a:srgbClr val="8A99A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 xml:space="preserve">   Instalación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3000" b="1" dirty="0">
                <a:solidFill>
                  <a:srgbClr val="10568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 instala en tres pasos, sin pisar tu configuración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5943600" cy="2286000"/>
          </a:xfrm>
          <a:prstGeom prst="rect">
            <a:avLst/>
          </a:prstGeom>
          <a:solidFill>
            <a:srgbClr val="0C2A3E"/>
          </a:solidFill>
          <a:ln/>
          <a:effectLst>
            <a:outerShdw sx="100000" sy="100000" kx="0" ky="0" algn="bl" rotWithShape="0" blurRad="114300" dist="38100" dir="8100000">
              <a:srgbClr val="0C2A3E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914400" y="2221992"/>
            <a:ext cx="146304" cy="146304"/>
          </a:xfrm>
          <a:prstGeom prst="ellipse">
            <a:avLst/>
          </a:prstGeom>
          <a:solidFill>
            <a:srgbClr val="FF5F57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1170432" y="2221992"/>
            <a:ext cx="146304" cy="146304"/>
          </a:xfrm>
          <a:prstGeom prst="ellipse">
            <a:avLst/>
          </a:prstGeom>
          <a:solidFill>
            <a:srgbClr val="FEBC2E"/>
          </a:solidFill>
          <a:ln/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1426464" y="2221992"/>
            <a:ext cx="146304" cy="146304"/>
          </a:xfrm>
          <a:prstGeom prst="ellipse">
            <a:avLst/>
          </a:prstGeom>
          <a:solidFill>
            <a:srgbClr val="28C840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960120" y="265176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EFA95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 xml:space="preserve">$ </a:t>
            </a:r>
            <a:pPr algn="l" indent="0" marL="0">
              <a:buNone/>
            </a:pPr>
            <a:r>
              <a:rPr lang="en-US" sz="1350" dirty="0">
                <a:solidFill>
                  <a:srgbClr val="E6EE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git clone &lt;url&gt; claude-kit-chema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960120" y="310896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EFA95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 xml:space="preserve">$ </a:t>
            </a:r>
            <a:pPr algn="l" indent="0" marL="0">
              <a:buNone/>
            </a:pPr>
            <a:r>
              <a:rPr lang="en-US" sz="1350" dirty="0">
                <a:solidFill>
                  <a:srgbClr val="E6EE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cd claude-kit-chema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960120" y="356616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EFA95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 xml:space="preserve">$ </a:t>
            </a:r>
            <a:pPr algn="l" indent="0" marL="0">
              <a:buNone/>
            </a:pPr>
            <a:r>
              <a:rPr lang="en-US" sz="1350" dirty="0">
                <a:solidFill>
                  <a:srgbClr val="E6EE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./instalar.sh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640080" y="4434840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i="1" dirty="0">
                <a:solidFill>
                  <a:srgbClr val="8A99A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 instalador copia el núcleo, las skills y el contexto a ~/.claude/.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040880" y="1965960"/>
            <a:ext cx="566928" cy="566928"/>
          </a:xfrm>
          <a:prstGeom prst="ellipse">
            <a:avLst/>
          </a:prstGeom>
          <a:solidFill>
            <a:srgbClr val="105687"/>
          </a:solidFill>
          <a:ln/>
          <a:effectLst>
            <a:outerShdw sx="100000" sy="100000" kx="0" ky="0" algn="bl" rotWithShape="0" blurRad="114300" dist="38100" dir="8100000">
              <a:srgbClr val="0C2A3E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93951" y="2119031"/>
            <a:ext cx="260787" cy="260787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7818120" y="1929384"/>
            <a:ext cx="37334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A1D2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pisa nada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7818120" y="2295144"/>
            <a:ext cx="37334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44515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 ya tienes un ~/.claude/CLAUDE.md, añade una sección marcada al final sin tocar lo tuyo; en actualizaciones respalda antes de reescribirla.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7040880" y="3017520"/>
            <a:ext cx="566928" cy="566928"/>
          </a:xfrm>
          <a:prstGeom prst="ellipse">
            <a:avLst/>
          </a:prstGeom>
          <a:solidFill>
            <a:srgbClr val="105687"/>
          </a:solidFill>
          <a:ln/>
          <a:effectLst>
            <a:outerShdw sx="100000" sy="100000" kx="0" ky="0" algn="bl" rotWithShape="0" blurRad="114300" dist="38100" dir="8100000">
              <a:srgbClr val="0C2A3E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93951" y="3170591"/>
            <a:ext cx="260787" cy="260787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7818120" y="2980944"/>
            <a:ext cx="37334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A1D2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Hook opt-in</a:t>
            </a:r>
            <a:endParaRPr lang="en-US" sz="1500" dirty="0"/>
          </a:p>
        </p:txBody>
      </p:sp>
      <p:sp>
        <p:nvSpPr>
          <p:cNvPr id="19" name="Text 15"/>
          <p:cNvSpPr/>
          <p:nvPr/>
        </p:nvSpPr>
        <p:spPr>
          <a:xfrm>
            <a:off x="7818120" y="3346704"/>
            <a:ext cx="37334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44515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Actívalo con KIT_HOOKS=s ./instalar.sh para bloquear commits con secretos.</a:t>
            </a:r>
            <a:endParaRPr lang="en-US" sz="1250" dirty="0"/>
          </a:p>
        </p:txBody>
      </p:sp>
      <p:sp>
        <p:nvSpPr>
          <p:cNvPr id="20" name="Shape 16"/>
          <p:cNvSpPr/>
          <p:nvPr/>
        </p:nvSpPr>
        <p:spPr>
          <a:xfrm>
            <a:off x="7040880" y="4069080"/>
            <a:ext cx="566928" cy="566928"/>
          </a:xfrm>
          <a:prstGeom prst="ellipse">
            <a:avLst/>
          </a:prstGeom>
          <a:solidFill>
            <a:srgbClr val="105687"/>
          </a:solidFill>
          <a:ln/>
          <a:effectLst>
            <a:outerShdw sx="100000" sy="100000" kx="0" ky="0" algn="bl" rotWithShape="0" blurRad="114300" dist="38100" dir="8100000">
              <a:srgbClr val="0C2A3E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93951" y="4222151"/>
            <a:ext cx="260787" cy="260787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7818120" y="4032504"/>
            <a:ext cx="37334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A1D2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claude.ai web también</a:t>
            </a:r>
            <a:endParaRPr lang="en-US" sz="1500" dirty="0"/>
          </a:p>
        </p:txBody>
      </p:sp>
      <p:sp>
        <p:nvSpPr>
          <p:cNvPr id="23" name="Text 18"/>
          <p:cNvSpPr/>
          <p:nvPr/>
        </p:nvSpPr>
        <p:spPr>
          <a:xfrm>
            <a:off x="7818120" y="4398264"/>
            <a:ext cx="37334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44515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Pega el núcleo como instrucciones del proyecto y sube los SKILL.md que uses.</a:t>
            </a:r>
            <a:endParaRPr lang="en-US" sz="1250" dirty="0"/>
          </a:p>
        </p:txBody>
      </p:sp>
      <p:sp>
        <p:nvSpPr>
          <p:cNvPr id="24" name="Shape 19"/>
          <p:cNvSpPr/>
          <p:nvPr/>
        </p:nvSpPr>
        <p:spPr>
          <a:xfrm>
            <a:off x="640080" y="6419088"/>
            <a:ext cx="10911535" cy="0"/>
          </a:xfrm>
          <a:prstGeom prst="line">
            <a:avLst/>
          </a:prstGeom>
          <a:noFill/>
          <a:ln w="12700">
            <a:solidFill>
              <a:srgbClr val="DCE4EA"/>
            </a:solidFill>
            <a:prstDash val="solid"/>
          </a:ln>
        </p:spPr>
        <p:txBody>
          <a:bodyPr/>
          <a:p/>
        </p:txBody>
      </p:sp>
      <p:sp>
        <p:nvSpPr>
          <p:cNvPr id="25" name="Text 20"/>
          <p:cNvSpPr/>
          <p:nvPr/>
        </p:nvSpPr>
        <p:spPr>
          <a:xfrm>
            <a:off x="640080" y="645566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99A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Kit Chema</a:t>
            </a:r>
            <a:endParaRPr lang="en-US" sz="900" dirty="0"/>
          </a:p>
        </p:txBody>
      </p:sp>
      <p:sp>
        <p:nvSpPr>
          <p:cNvPr id="26" name="Text 21"/>
          <p:cNvSpPr/>
          <p:nvPr/>
        </p:nvSpPr>
        <p:spPr>
          <a:xfrm>
            <a:off x="9722815" y="645566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9A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10 / 12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00" kern="0" dirty="0">
                <a:solidFill>
                  <a:srgbClr val="DD853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11</a:t>
            </a:r>
            <a:pPr algn="l" indent="0" marL="0">
              <a:buNone/>
            </a:pPr>
            <a:r>
              <a:rPr lang="en-US" sz="1200" spc="100" kern="0" dirty="0">
                <a:solidFill>
                  <a:srgbClr val="8A99A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 xml:space="preserve">   Mejora continua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3000" b="1" dirty="0">
                <a:solidFill>
                  <a:srgbClr val="10568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 kit aprende: una corrección repetida se vuelve regla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788109" y="2148840"/>
            <a:ext cx="914400" cy="914400"/>
          </a:xfrm>
          <a:prstGeom prst="ellipse">
            <a:avLst/>
          </a:prstGeom>
          <a:solidFill>
            <a:srgbClr val="105687"/>
          </a:solidFill>
          <a:ln/>
          <a:effectLst>
            <a:outerShdw sx="100000" sy="100000" kx="0" ky="0" algn="bl" rotWithShape="0" blurRad="114300" dist="38100" dir="8100000">
              <a:srgbClr val="0C2A3E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34997" y="2395728"/>
            <a:ext cx="420624" cy="42062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3200400"/>
            <a:ext cx="321045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500" b="1" dirty="0">
                <a:solidFill>
                  <a:srgbClr val="1A1D2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Corriges dos veces lo mismo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640080" y="3776472"/>
            <a:ext cx="321045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44515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 tono, un formato o una cifra que siempre calcula mal.</a:t>
            </a:r>
            <a:endParaRPr lang="en-US" sz="125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4274" y="2459736"/>
            <a:ext cx="292608" cy="292608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5638648" y="2148840"/>
            <a:ext cx="914400" cy="914400"/>
          </a:xfrm>
          <a:prstGeom prst="ellipse">
            <a:avLst/>
          </a:prstGeom>
          <a:solidFill>
            <a:srgbClr val="105687"/>
          </a:solidFill>
          <a:ln/>
          <a:effectLst>
            <a:outerShdw sx="100000" sy="100000" kx="0" ky="0" algn="bl" rotWithShape="0" blurRad="114300" dist="38100" dir="8100000">
              <a:srgbClr val="0C2A3E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85536" y="2395728"/>
            <a:ext cx="420624" cy="420624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4490618" y="3200400"/>
            <a:ext cx="321045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500" b="1" dirty="0">
                <a:solidFill>
                  <a:srgbClr val="1A1D2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 propone como regla</a:t>
            </a:r>
            <a:endParaRPr lang="en-US" sz="1500" dirty="0"/>
          </a:p>
        </p:txBody>
      </p:sp>
      <p:sp>
        <p:nvSpPr>
          <p:cNvPr id="12" name="Text 7"/>
          <p:cNvSpPr/>
          <p:nvPr/>
        </p:nvSpPr>
        <p:spPr>
          <a:xfrm>
            <a:off x="4490618" y="3776472"/>
            <a:ext cx="321045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44515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Esa corrección se convierte en regla permanente del kit.</a:t>
            </a:r>
            <a:endParaRPr lang="en-US" sz="125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74813" y="2459736"/>
            <a:ext cx="292608" cy="292608"/>
          </a:xfrm>
          <a:prstGeom prst="rect">
            <a:avLst/>
          </a:prstGeom>
        </p:spPr>
      </p:pic>
      <p:sp>
        <p:nvSpPr>
          <p:cNvPr id="14" name="Shape 8"/>
          <p:cNvSpPr/>
          <p:nvPr/>
        </p:nvSpPr>
        <p:spPr>
          <a:xfrm>
            <a:off x="9489186" y="2148840"/>
            <a:ext cx="914400" cy="914400"/>
          </a:xfrm>
          <a:prstGeom prst="ellipse">
            <a:avLst/>
          </a:prstGeom>
          <a:solidFill>
            <a:srgbClr val="1E8A4C"/>
          </a:solidFill>
          <a:ln/>
          <a:effectLst>
            <a:outerShdw sx="100000" sy="100000" kx="0" ky="0" algn="bl" rotWithShape="0" blurRad="114300" dist="38100" dir="8100000">
              <a:srgbClr val="0C2A3E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36074" y="2395728"/>
            <a:ext cx="420624" cy="420624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8341157" y="3200400"/>
            <a:ext cx="321045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500" b="1" dirty="0">
                <a:solidFill>
                  <a:srgbClr val="1A1D2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Entra al CHANGELOG</a:t>
            </a:r>
            <a:endParaRPr lang="en-US" sz="1500" dirty="0"/>
          </a:p>
        </p:txBody>
      </p:sp>
      <p:sp>
        <p:nvSpPr>
          <p:cNvPr id="17" name="Text 10"/>
          <p:cNvSpPr/>
          <p:nvPr/>
        </p:nvSpPr>
        <p:spPr>
          <a:xfrm>
            <a:off x="8341157" y="3776472"/>
            <a:ext cx="321045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44515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Queda registrada con fecha en el repositorio, para todos.</a:t>
            </a:r>
            <a:endParaRPr lang="en-US" sz="1250" dirty="0"/>
          </a:p>
        </p:txBody>
      </p:sp>
      <p:sp>
        <p:nvSpPr>
          <p:cNvPr id="18" name="Shape 11"/>
          <p:cNvSpPr/>
          <p:nvPr/>
        </p:nvSpPr>
        <p:spPr>
          <a:xfrm>
            <a:off x="640080" y="5257800"/>
            <a:ext cx="10911535" cy="868680"/>
          </a:xfrm>
          <a:prstGeom prst="rect">
            <a:avLst/>
          </a:prstGeom>
          <a:solidFill>
            <a:srgbClr val="EDF2F6"/>
          </a:solidFill>
          <a:ln w="12700">
            <a:solidFill>
              <a:srgbClr val="DCE4EA"/>
            </a:solidFill>
            <a:prstDash val="solid"/>
          </a:ln>
        </p:spPr>
        <p:txBody>
          <a:bodyPr/>
          <a:p/>
        </p:txBody>
      </p:sp>
      <p:sp>
        <p:nvSpPr>
          <p:cNvPr id="19" name="Text 12"/>
          <p:cNvSpPr/>
          <p:nvPr/>
        </p:nvSpPr>
        <p:spPr>
          <a:xfrm>
            <a:off x="1005840" y="5349240"/>
            <a:ext cx="5029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DD853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 xml:space="preserve">$ </a:t>
            </a:r>
            <a:pPr algn="l" indent="0" marL="0">
              <a:buNone/>
            </a:pPr>
            <a:r>
              <a:rPr lang="en-US" sz="1500" b="1" dirty="0">
                <a:solidFill>
                  <a:srgbClr val="1A1D2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git pull &amp;&amp; ./instalar.sh</a:t>
            </a:r>
            <a:endParaRPr lang="en-US" sz="1500" dirty="0"/>
          </a:p>
        </p:txBody>
      </p:sp>
      <p:sp>
        <p:nvSpPr>
          <p:cNvPr id="20" name="Text 13"/>
          <p:cNvSpPr/>
          <p:nvPr/>
        </p:nvSpPr>
        <p:spPr>
          <a:xfrm>
            <a:off x="6126480" y="5349240"/>
            <a:ext cx="54251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44515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Trae la última versión sin destruir tu CLAUDE.md ni tu contexto de empresa. Dejas de pelear con el mismo error para siempre.</a:t>
            </a:r>
            <a:endParaRPr lang="en-US" sz="1250" dirty="0"/>
          </a:p>
        </p:txBody>
      </p:sp>
      <p:sp>
        <p:nvSpPr>
          <p:cNvPr id="21" name="Shape 14"/>
          <p:cNvSpPr/>
          <p:nvPr/>
        </p:nvSpPr>
        <p:spPr>
          <a:xfrm>
            <a:off x="640080" y="6419088"/>
            <a:ext cx="10911535" cy="0"/>
          </a:xfrm>
          <a:prstGeom prst="line">
            <a:avLst/>
          </a:prstGeom>
          <a:noFill/>
          <a:ln w="12700">
            <a:solidFill>
              <a:srgbClr val="DCE4EA"/>
            </a:solidFill>
            <a:prstDash val="solid"/>
          </a:ln>
        </p:spPr>
        <p:txBody>
          <a:bodyPr/>
          <a:p/>
        </p:txBody>
      </p:sp>
      <p:sp>
        <p:nvSpPr>
          <p:cNvPr id="22" name="Text 15"/>
          <p:cNvSpPr/>
          <p:nvPr/>
        </p:nvSpPr>
        <p:spPr>
          <a:xfrm>
            <a:off x="640080" y="645566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99A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Kit Chema</a:t>
            </a:r>
            <a:endParaRPr lang="en-US" sz="900" dirty="0"/>
          </a:p>
        </p:txBody>
      </p:sp>
      <p:sp>
        <p:nvSpPr>
          <p:cNvPr id="23" name="Text 16"/>
          <p:cNvSpPr/>
          <p:nvPr/>
        </p:nvSpPr>
        <p:spPr>
          <a:xfrm>
            <a:off x="9722815" y="645566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9A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11 / 12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C2A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12801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0292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spc="100" kern="0" dirty="0">
                <a:solidFill>
                  <a:srgbClr val="EFA95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El respaldo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640080" y="914400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es opinión: está probado y respaldado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640080" y="2286000"/>
            <a:ext cx="3332378" cy="2286000"/>
          </a:xfrm>
          <a:prstGeom prst="rect">
            <a:avLst/>
          </a:prstGeom>
          <a:solidFill>
            <a:srgbClr val="10314A"/>
          </a:solidFill>
          <a:ln w="12700">
            <a:solidFill>
              <a:srgbClr val="1C3A4E"/>
            </a:solidFill>
            <a:prstDash val="solid"/>
          </a:ln>
        </p:spPr>
        <p:txBody>
          <a:bodyPr/>
          <a:p/>
        </p:txBody>
      </p:sp>
      <p:sp>
        <p:nvSpPr>
          <p:cNvPr id="6" name="Shape 3"/>
          <p:cNvSpPr/>
          <p:nvPr/>
        </p:nvSpPr>
        <p:spPr>
          <a:xfrm>
            <a:off x="640080" y="2286000"/>
            <a:ext cx="3332378" cy="91440"/>
          </a:xfrm>
          <a:prstGeom prst="rect">
            <a:avLst/>
          </a:prstGeom>
          <a:solidFill>
            <a:srgbClr val="DD8533"/>
          </a:solidFill>
          <a:ln/>
        </p:spPr>
        <p:txBody>
          <a:bodyPr/>
          <a:p/>
        </p:txBody>
      </p:sp>
      <p:sp>
        <p:nvSpPr>
          <p:cNvPr id="7" name="Text 4"/>
          <p:cNvSpPr/>
          <p:nvPr/>
        </p:nvSpPr>
        <p:spPr>
          <a:xfrm>
            <a:off x="822960" y="2697480"/>
            <a:ext cx="296661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EFA9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25 / 25</a:t>
            </a:r>
            <a:endParaRPr lang="en-US" sz="4600" dirty="0"/>
          </a:p>
        </p:txBody>
      </p:sp>
      <p:sp>
        <p:nvSpPr>
          <p:cNvPr id="8" name="Text 5"/>
          <p:cNvSpPr/>
          <p:nvPr/>
        </p:nvSpPr>
        <p:spPr>
          <a:xfrm>
            <a:off x="914400" y="3703320"/>
            <a:ext cx="278373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CFDBE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afirmaciones verificadas contra fuentes primarias de Anthropic (0 refutadas)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429658" y="2286000"/>
            <a:ext cx="3332378" cy="2286000"/>
          </a:xfrm>
          <a:prstGeom prst="rect">
            <a:avLst/>
          </a:prstGeom>
          <a:solidFill>
            <a:srgbClr val="10314A"/>
          </a:solidFill>
          <a:ln w="12700">
            <a:solidFill>
              <a:srgbClr val="1C3A4E"/>
            </a:solidFill>
            <a:prstDash val="solid"/>
          </a:ln>
        </p:spPr>
        <p:txBody>
          <a:bodyPr/>
          <a:p/>
        </p:txBody>
      </p:sp>
      <p:sp>
        <p:nvSpPr>
          <p:cNvPr id="10" name="Shape 7"/>
          <p:cNvSpPr/>
          <p:nvPr/>
        </p:nvSpPr>
        <p:spPr>
          <a:xfrm>
            <a:off x="4429658" y="2286000"/>
            <a:ext cx="3332378" cy="91440"/>
          </a:xfrm>
          <a:prstGeom prst="rect">
            <a:avLst/>
          </a:prstGeom>
          <a:solidFill>
            <a:srgbClr val="DD8533"/>
          </a:solidFill>
          <a:ln/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4612538" y="2697480"/>
            <a:ext cx="296661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EFA9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 / 21</a:t>
            </a:r>
            <a:endParaRPr lang="en-US" sz="4600" dirty="0"/>
          </a:p>
        </p:txBody>
      </p:sp>
      <p:sp>
        <p:nvSpPr>
          <p:cNvPr id="12" name="Text 9"/>
          <p:cNvSpPr/>
          <p:nvPr/>
        </p:nvSpPr>
        <p:spPr>
          <a:xfrm>
            <a:off x="4703978" y="3703320"/>
            <a:ext cx="278373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CFDBE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peticiones naturales activaron la skill correcta (criterio ≥ 19/21)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8219237" y="2286000"/>
            <a:ext cx="3332378" cy="2286000"/>
          </a:xfrm>
          <a:prstGeom prst="rect">
            <a:avLst/>
          </a:prstGeom>
          <a:solidFill>
            <a:srgbClr val="10314A"/>
          </a:solidFill>
          <a:ln w="12700">
            <a:solidFill>
              <a:srgbClr val="1C3A4E"/>
            </a:solidFill>
            <a:prstDash val="solid"/>
          </a:ln>
        </p:spPr>
        <p:txBody>
          <a:bodyPr/>
          <a:p/>
        </p:txBody>
      </p:sp>
      <p:sp>
        <p:nvSpPr>
          <p:cNvPr id="14" name="Shape 11"/>
          <p:cNvSpPr/>
          <p:nvPr/>
        </p:nvSpPr>
        <p:spPr>
          <a:xfrm>
            <a:off x="8219237" y="2286000"/>
            <a:ext cx="3332378" cy="91440"/>
          </a:xfrm>
          <a:prstGeom prst="rect">
            <a:avLst/>
          </a:prstGeom>
          <a:solidFill>
            <a:srgbClr val="DD8533"/>
          </a:solidFill>
          <a:ln/>
        </p:spPr>
        <p:txBody>
          <a:bodyPr/>
          <a:p/>
        </p:txBody>
      </p:sp>
      <p:sp>
        <p:nvSpPr>
          <p:cNvPr id="15" name="Text 12"/>
          <p:cNvSpPr/>
          <p:nvPr/>
        </p:nvSpPr>
        <p:spPr>
          <a:xfrm>
            <a:off x="8402117" y="2697480"/>
            <a:ext cx="296661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EFA9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50×</a:t>
            </a:r>
            <a:endParaRPr lang="en-US" sz="4600" dirty="0"/>
          </a:p>
        </p:txBody>
      </p:sp>
      <p:sp>
        <p:nvSpPr>
          <p:cNvPr id="16" name="Text 13"/>
          <p:cNvSpPr/>
          <p:nvPr/>
        </p:nvSpPr>
        <p:spPr>
          <a:xfrm>
            <a:off x="8493557" y="3703320"/>
            <a:ext cx="278373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CFDBE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error de cálculo plantado que el council cazó y rechazó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640080" y="5212080"/>
            <a:ext cx="109115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 xml:space="preserve">Instálalo hoy:   </a:t>
            </a:r>
            <a:pPr algn="ctr" indent="0" marL="0">
              <a:buNone/>
            </a:pPr>
            <a:r>
              <a:rPr lang="en-US" sz="1800" dirty="0">
                <a:solidFill>
                  <a:srgbClr val="EFA95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git clone</a:t>
            </a:r>
            <a:pPr algn="ctr" indent="0" marL="0">
              <a:buNone/>
            </a:pPr>
            <a:r>
              <a:rPr lang="en-US" sz="1800" dirty="0">
                <a:solidFill>
                  <a:srgbClr val="8FA5B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 xml:space="preserve">  +  </a:t>
            </a:r>
            <a:pPr algn="ctr" indent="0" marL="0">
              <a:buNone/>
            </a:pPr>
            <a:r>
              <a:rPr lang="en-US" sz="1800" dirty="0">
                <a:solidFill>
                  <a:srgbClr val="EFA95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./instalar.sh</a:t>
            </a:r>
            <a:endParaRPr lang="en-US" sz="1800" dirty="0"/>
          </a:p>
        </p:txBody>
      </p:sp>
      <p:sp>
        <p:nvSpPr>
          <p:cNvPr id="18" name="Shape 15"/>
          <p:cNvSpPr/>
          <p:nvPr/>
        </p:nvSpPr>
        <p:spPr>
          <a:xfrm>
            <a:off x="640080" y="6419088"/>
            <a:ext cx="10911535" cy="0"/>
          </a:xfrm>
          <a:prstGeom prst="line">
            <a:avLst/>
          </a:prstGeom>
          <a:noFill/>
          <a:ln w="12700">
            <a:solidFill>
              <a:srgbClr val="1C3A4E"/>
            </a:solidFill>
            <a:prstDash val="solid"/>
          </a:ln>
        </p:spPr>
        <p:txBody>
          <a:bodyPr/>
          <a:p/>
        </p:txBody>
      </p:sp>
      <p:sp>
        <p:nvSpPr>
          <p:cNvPr id="19" name="Text 16"/>
          <p:cNvSpPr/>
          <p:nvPr/>
        </p:nvSpPr>
        <p:spPr>
          <a:xfrm>
            <a:off x="640080" y="645566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E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Kit Chema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9722815" y="645566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E748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12 / 12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Kit Chema — presentacion</dc:title>
  <dc:subject>PptxGenJS Presentation</dc:subject>
  <dc:creator>Kit Chema</dc:creator>
  <cp:lastModifiedBy>Kit Chema</cp:lastModifiedBy>
  <cp:revision>1</cp:revision>
  <dcterms:created xsi:type="dcterms:W3CDTF">2026-07-09T06:31:41Z</dcterms:created>
  <dcterms:modified xsi:type="dcterms:W3CDTF">2026-07-09T06:31:41Z</dcterms:modified>
</cp:coreProperties>
</file>