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Estándar de calidad para Claude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7600" dirty="0"/>
          </a:p>
        </p:txBody>
      </p:sp>
      <p:sp>
        <p:nvSpPr>
          <p:cNvPr id="5" name="Text 2"/>
          <p:cNvSpPr/>
          <p:nvPr/>
        </p:nvSpPr>
        <p:spPr>
          <a:xfrm>
            <a:off x="640080" y="320040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2E7C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 Claude trabaje bien para todo Innovattia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411480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AEBEC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Instrucciones de calidad que cualquiera instala y usa, sin depender de la configuración personal de nadie.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60350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repositorio claude-kit-chema   ·   v0.9   ·   2026-07-09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El problema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Hoy Claude repite cinco fallos que nos cuestan tiempo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874520"/>
            <a:ext cx="82296" cy="841248"/>
          </a:xfrm>
          <a:prstGeom prst="rect">
            <a:avLst/>
          </a:prstGeom>
          <a:solidFill>
            <a:srgbClr val="EC2229"/>
          </a:solidFill>
          <a:ln/>
        </p:spPr>
      </p:sp>
      <p:sp>
        <p:nvSpPr>
          <p:cNvPr id="6" name="Shape 4"/>
          <p:cNvSpPr/>
          <p:nvPr/>
        </p:nvSpPr>
        <p:spPr>
          <a:xfrm>
            <a:off x="932688" y="2039112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0945" y="2177369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993392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Respuestas genéricas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126480" y="1993392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Ignora el contexto de la empresa y responde para cualquiera.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770632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" y="2770632"/>
            <a:ext cx="82296" cy="841248"/>
          </a:xfrm>
          <a:prstGeom prst="rect">
            <a:avLst/>
          </a:prstGeom>
          <a:solidFill>
            <a:srgbClr val="EC2229"/>
          </a:solidFill>
          <a:ln/>
        </p:spPr>
      </p:sp>
      <p:sp>
        <p:nvSpPr>
          <p:cNvPr id="12" name="Shape 9"/>
          <p:cNvSpPr/>
          <p:nvPr/>
        </p:nvSpPr>
        <p:spPr>
          <a:xfrm>
            <a:off x="932688" y="2935224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945" y="3073481"/>
            <a:ext cx="235549" cy="235549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691640" y="2889504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Supuestos no consultados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126480" y="2889504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Asume lo que no sabe en vez de preguntar.</a:t>
            </a:r>
            <a:endParaRPr lang="en-US" sz="1350" dirty="0"/>
          </a:p>
        </p:txBody>
      </p:sp>
      <p:sp>
        <p:nvSpPr>
          <p:cNvPr id="16" name="Shape 12"/>
          <p:cNvSpPr/>
          <p:nvPr/>
        </p:nvSpPr>
        <p:spPr>
          <a:xfrm>
            <a:off x="640080" y="3666744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40080" y="3666744"/>
            <a:ext cx="82296" cy="841248"/>
          </a:xfrm>
          <a:prstGeom prst="rect">
            <a:avLst/>
          </a:prstGeom>
          <a:solidFill>
            <a:srgbClr val="EC2229"/>
          </a:solidFill>
          <a:ln/>
        </p:spPr>
      </p:sp>
      <p:sp>
        <p:nvSpPr>
          <p:cNvPr id="18" name="Shape 14"/>
          <p:cNvSpPr/>
          <p:nvPr/>
        </p:nvSpPr>
        <p:spPr>
          <a:xfrm>
            <a:off x="932688" y="3831336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945" y="3969593"/>
            <a:ext cx="235549" cy="235549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691640" y="3785616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Inconsistencia entre sesiones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126480" y="3785616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conversación repite errores ya corregidos.</a:t>
            </a:r>
            <a:endParaRPr lang="en-US" sz="1350" dirty="0"/>
          </a:p>
        </p:txBody>
      </p:sp>
      <p:sp>
        <p:nvSpPr>
          <p:cNvPr id="22" name="Shape 17"/>
          <p:cNvSpPr/>
          <p:nvPr/>
        </p:nvSpPr>
        <p:spPr>
          <a:xfrm>
            <a:off x="640080" y="4562856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40080" y="4562856"/>
            <a:ext cx="82296" cy="841248"/>
          </a:xfrm>
          <a:prstGeom prst="rect">
            <a:avLst/>
          </a:prstGeom>
          <a:solidFill>
            <a:srgbClr val="EC2229"/>
          </a:solidFill>
          <a:ln/>
        </p:spPr>
      </p:sp>
      <p:sp>
        <p:nvSpPr>
          <p:cNvPr id="24" name="Shape 19"/>
          <p:cNvSpPr/>
          <p:nvPr/>
        </p:nvSpPr>
        <p:spPr>
          <a:xfrm>
            <a:off x="932688" y="4727448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945" y="4865705"/>
            <a:ext cx="235549" cy="23554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91640" y="4681728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Complacencia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26480" y="4681728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Dice "sí" a propuestas débiles en vez de señalar el problema.</a:t>
            </a:r>
            <a:endParaRPr lang="en-US" sz="1350" dirty="0"/>
          </a:p>
        </p:txBody>
      </p:sp>
      <p:sp>
        <p:nvSpPr>
          <p:cNvPr id="28" name="Shape 22"/>
          <p:cNvSpPr/>
          <p:nvPr/>
        </p:nvSpPr>
        <p:spPr>
          <a:xfrm>
            <a:off x="640080" y="5458968"/>
            <a:ext cx="1091153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40080" y="5458968"/>
            <a:ext cx="82296" cy="841248"/>
          </a:xfrm>
          <a:prstGeom prst="rect">
            <a:avLst/>
          </a:prstGeom>
          <a:solidFill>
            <a:srgbClr val="EC2229"/>
          </a:solidFill>
          <a:ln/>
        </p:spPr>
      </p:sp>
      <p:sp>
        <p:nvSpPr>
          <p:cNvPr id="30" name="Shape 24"/>
          <p:cNvSpPr/>
          <p:nvPr/>
        </p:nvSpPr>
        <p:spPr>
          <a:xfrm>
            <a:off x="932688" y="5623560"/>
            <a:ext cx="512064" cy="512064"/>
          </a:xfrm>
          <a:prstGeom prst="ellipse">
            <a:avLst/>
          </a:prstGeom>
          <a:solidFill>
            <a:srgbClr val="C6404A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945" y="5761817"/>
            <a:ext cx="235549" cy="235549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691640" y="5577840"/>
            <a:ext cx="4297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Código contaminado</a:t>
            </a:r>
            <a:endParaRPr lang="en-US" sz="1600" dirty="0"/>
          </a:p>
        </p:txBody>
      </p:sp>
      <p:sp>
        <p:nvSpPr>
          <p:cNvPr id="33" name="Text 26"/>
          <p:cNvSpPr/>
          <p:nvPr/>
        </p:nvSpPr>
        <p:spPr>
          <a:xfrm>
            <a:off x="6126480" y="5577840"/>
            <a:ext cx="51508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Duplicados, residuos y estilos mezclados en lo generado.</a:t>
            </a:r>
            <a:endParaRPr lang="en-US" sz="1350" dirty="0"/>
          </a:p>
        </p:txBody>
      </p:sp>
      <p:sp>
        <p:nvSpPr>
          <p:cNvPr id="34" name="Shape 27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La solución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lo ataca con cuatro piezas que encajan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286000"/>
            <a:ext cx="731520" cy="73152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350" y="2483510"/>
            <a:ext cx="336499" cy="3364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65960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Núcleo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024128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CLAUDE.md de 77 líneas que carga en toda conversación: las reglas universales.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278728" y="192024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644488" y="2286000"/>
            <a:ext cx="731520" cy="73152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1998" y="2483510"/>
            <a:ext cx="336499" cy="3364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604608" y="230428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Playbooks</a:t>
            </a:r>
            <a:endParaRPr lang="en-US" sz="1900" dirty="0"/>
          </a:p>
        </p:txBody>
      </p:sp>
      <p:sp>
        <p:nvSpPr>
          <p:cNvPr id="13" name="Text 9"/>
          <p:cNvSpPr/>
          <p:nvPr/>
        </p:nvSpPr>
        <p:spPr>
          <a:xfrm>
            <a:off x="6662776" y="303580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skills de dominio que se activan solas cuando la tarea las necesita.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05840" y="4389120"/>
            <a:ext cx="731520" cy="73152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350" y="4586630"/>
            <a:ext cx="336499" cy="3364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965960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anti-secretos</a:t>
            </a:r>
            <a:endParaRPr lang="en-US" sz="1900" dirty="0"/>
          </a:p>
        </p:txBody>
      </p:sp>
      <p:sp>
        <p:nvSpPr>
          <p:cNvPr id="18" name="Text 13"/>
          <p:cNvSpPr/>
          <p:nvPr/>
        </p:nvSpPr>
        <p:spPr>
          <a:xfrm>
            <a:off x="1024128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Regla determinista opt-in que ejecuta la máquina, no la memoria de Claude.</a:t>
            </a:r>
            <a:endParaRPr lang="en-US" sz="1350" dirty="0"/>
          </a:p>
        </p:txBody>
      </p:sp>
      <p:sp>
        <p:nvSpPr>
          <p:cNvPr id="19" name="Shape 14"/>
          <p:cNvSpPr/>
          <p:nvPr/>
        </p:nvSpPr>
        <p:spPr>
          <a:xfrm>
            <a:off x="6278728" y="4023360"/>
            <a:ext cx="5272888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644488" y="4389120"/>
            <a:ext cx="731520" cy="731520"/>
          </a:xfrm>
          <a:prstGeom prst="ellipse">
            <a:avLst/>
          </a:prstGeom>
          <a:solidFill>
            <a:srgbClr val="5E7484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1998" y="4586630"/>
            <a:ext cx="336499" cy="3364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604608" y="4407408"/>
            <a:ext cx="37184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Guía humana</a:t>
            </a:r>
            <a:endParaRPr lang="en-US" sz="1900" dirty="0"/>
          </a:p>
        </p:txBody>
      </p:sp>
      <p:sp>
        <p:nvSpPr>
          <p:cNvPr id="23" name="Text 17"/>
          <p:cNvSpPr/>
          <p:nvPr/>
        </p:nvSpPr>
        <p:spPr>
          <a:xfrm>
            <a:off x="6662776" y="5138928"/>
            <a:ext cx="4504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e INSTRUCTIVO.md, más el contexto de empresa editable.</a:t>
            </a:r>
            <a:endParaRPr lang="en-US" sz="135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En cada conversación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cada tarea: aclara, evalúa, calibra por riesgo y verifica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75372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22260" y="2395728"/>
            <a:ext cx="420624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78876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</p:sp>
      <p:sp>
        <p:nvSpPr>
          <p:cNvPr id="7" name="Text 4"/>
          <p:cNvSpPr/>
          <p:nvPr/>
        </p:nvSpPr>
        <p:spPr>
          <a:xfrm>
            <a:off x="1978876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Arranque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Confirma propósito, audiencia, formato y criterio de éxito antes de trabajar.</a:t>
            </a:r>
            <a:endParaRPr lang="en-US" sz="12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5648" y="2478024"/>
            <a:ext cx="256032" cy="25603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217556" y="2148840"/>
            <a:ext cx="914400" cy="914400"/>
          </a:xfrm>
          <a:prstGeom prst="ellipse">
            <a:avLst/>
          </a:prstGeom>
          <a:solidFill>
            <a:srgbClr val="2E7CB8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4444" y="2395728"/>
            <a:ext cx="420624" cy="420624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4821060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</p:sp>
      <p:sp>
        <p:nvSpPr>
          <p:cNvPr id="14" name="Text 9"/>
          <p:cNvSpPr/>
          <p:nvPr/>
        </p:nvSpPr>
        <p:spPr>
          <a:xfrm>
            <a:off x="4821060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82264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crítica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482264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está bien, qué le preocupa y qué haría él, antes de ejecutar.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478024"/>
            <a:ext cx="256032" cy="256032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7059740" y="2148840"/>
            <a:ext cx="914400" cy="914400"/>
          </a:xfrm>
          <a:prstGeom prst="ellipse">
            <a:avLst/>
          </a:prstGeom>
          <a:solidFill>
            <a:srgbClr val="DD8533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6628" y="2395728"/>
            <a:ext cx="420624" cy="420624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7663244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</p:sp>
      <p:sp>
        <p:nvSpPr>
          <p:cNvPr id="21" name="Text 14"/>
          <p:cNvSpPr/>
          <p:nvPr/>
        </p:nvSpPr>
        <p:spPr>
          <a:xfrm>
            <a:off x="7663244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324448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Esfuerzo por riesgo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324448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Trivial va directo; estándar usa playbook; lo caro dispara el council.</a:t>
            </a:r>
            <a:endParaRPr lang="en-US" sz="12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10015" y="2478024"/>
            <a:ext cx="256032" cy="256032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901923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48811" y="2395728"/>
            <a:ext cx="420624" cy="420624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10505427" y="2093976"/>
            <a:ext cx="384048" cy="384048"/>
          </a:xfrm>
          <a:prstGeom prst="ellipse">
            <a:avLst/>
          </a:prstGeom>
          <a:solidFill>
            <a:srgbClr val="0C2A3E"/>
          </a:solidFill>
          <a:ln/>
        </p:spPr>
      </p:sp>
      <p:sp>
        <p:nvSpPr>
          <p:cNvPr id="28" name="Text 19"/>
          <p:cNvSpPr/>
          <p:nvPr/>
        </p:nvSpPr>
        <p:spPr>
          <a:xfrm>
            <a:off x="10505427" y="20939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9166631" y="3200400"/>
            <a:ext cx="2384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Terminado = verificado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166631" y="3776472"/>
            <a:ext cx="238498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se declara listo sin comprobarlo; reporta lo que quedó fuera.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32" name="Text 2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Los playbooks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Siete playbooks: cada dominio con lo que garantiza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168335"/>
              </a:tblGrid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Dominio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Qué garantiza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2A3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Presentaciones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audiencia y objetivo antes del diseño; una idea por lámina; cada cifra con fuente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Análisis de datos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revisa la calidad del dato antes de concluir; separa el hecho de la interpretación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Research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cada afirmación con fuente y fecha; cruza dos fuentes; marca lo de una sola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Código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lee el código antes de escribir; corre con datos reales; higiene anti-contaminación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Propuestas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problema, opciones, costos, recomendación y reversión; council con veredicto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Finanzas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supuestos aparte; recalcula cada cifra; escenarios, no un número único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2F6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0568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Automatización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6434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define disparador, entradas y salidas; deja escrito cómo apagarlo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tienes que nombrarlas: basta con describir la tarea y el kit elige la skill.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El Council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Council juzga lo que importa, sin inventar problemas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cuándo corre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231136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dices "council", cuando la decisión es cara o irreversible, o cuando el material sale de la empresa.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090672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a 5 evaluadores independientes con contexto fresco, un lente cada uno: viabilidad, costo/beneficio, riesgos, abogado del diablo.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426110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mandato con proporcionalidad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hallazgos con evidencia que cambien la decisión, ponderados contra el tamaño y la reversibilidad. "Sin hallazgos relevantes" es válido.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498080" y="1920240"/>
            <a:ext cx="4053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veredictos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0" y="2304288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44384" y="2423160"/>
            <a:ext cx="237744" cy="237744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8001000" y="2304288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8A4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498080" y="2871216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4" y="2990088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8001000" y="2871216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D853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aprobada con cambios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498080" y="3438144"/>
            <a:ext cx="4053535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4384" y="3557016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001000" y="3438144"/>
            <a:ext cx="34134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C222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rechazada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7498080" y="4169664"/>
            <a:ext cx="4053535" cy="1481328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9248" y="4407408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119872" y="4370832"/>
            <a:ext cx="3230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Probado</a:t>
            </a:r>
            <a:endParaRPr lang="en-US" sz="1400" dirty="0"/>
          </a:p>
        </p:txBody>
      </p:sp>
      <p:sp>
        <p:nvSpPr>
          <p:cNvPr id="23" name="Text 17"/>
          <p:cNvSpPr/>
          <p:nvPr/>
        </p:nvSpPr>
        <p:spPr>
          <a:xfrm>
            <a:off x="7699248" y="4828032"/>
            <a:ext cx="3651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Cazó un error de cálculo 50× plantado (rechazada) y aprobó una propuesta sólida sin inventarle objeciones.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Higiene de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código no se contamina: seis reglas de higiene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737360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Reutilizar antes de crear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737360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Grep primero, escribir después: si ya existe, se usa o se extiende.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8728" y="1920240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4760" y="2194560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</p:sp>
      <p:sp>
        <p:nvSpPr>
          <p:cNvPr id="11" name="Text 9"/>
          <p:cNvSpPr/>
          <p:nvPr/>
        </p:nvSpPr>
        <p:spPr>
          <a:xfrm>
            <a:off x="653476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76008" y="2084832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Respetar el estilo del repo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7376008" y="24688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Mismo naming y patrones que el código que ya está, aunque no te guste.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37360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Nada de refactors no pedidos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737360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convenga cambiar se propone aparte, no se cuela en el cambio.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78728" y="3328416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34760" y="3602736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</p:sp>
      <p:sp>
        <p:nvSpPr>
          <p:cNvPr id="21" name="Text 19"/>
          <p:cNvSpPr/>
          <p:nvPr/>
        </p:nvSpPr>
        <p:spPr>
          <a:xfrm>
            <a:off x="6534760" y="360273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76008" y="3493008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Cero residuos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7376008" y="3877056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código muerto, prints de debug ni archivos de prueba al terminar.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96112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</p:sp>
      <p:sp>
        <p:nvSpPr>
          <p:cNvPr id="26" name="Text 24"/>
          <p:cNvSpPr/>
          <p:nvPr/>
        </p:nvSpPr>
        <p:spPr>
          <a:xfrm>
            <a:off x="896112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1737360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Dependencias justificadas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1737360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una en una línea y sin duplicar lo que el proyecto ya tiene.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278728" y="4736592"/>
            <a:ext cx="5272888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34760" y="5010912"/>
            <a:ext cx="640080" cy="640080"/>
          </a:xfrm>
          <a:prstGeom prst="ellipse">
            <a:avLst/>
          </a:prstGeom>
          <a:solidFill>
            <a:srgbClr val="105687"/>
          </a:solidFill>
          <a:ln/>
        </p:spPr>
      </p:sp>
      <p:sp>
        <p:nvSpPr>
          <p:cNvPr id="31" name="Text 29"/>
          <p:cNvSpPr/>
          <p:nvPr/>
        </p:nvSpPr>
        <p:spPr>
          <a:xfrm>
            <a:off x="6534760" y="50109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76008" y="4901184"/>
            <a:ext cx="3947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Revisar el diff completo</a:t>
            </a:r>
            <a:endParaRPr lang="en-US" sz="1550" dirty="0"/>
          </a:p>
        </p:txBody>
      </p:sp>
      <p:sp>
        <p:nvSpPr>
          <p:cNvPr id="33" name="Text 31"/>
          <p:cNvSpPr/>
          <p:nvPr/>
        </p:nvSpPr>
        <p:spPr>
          <a:xfrm>
            <a:off x="7376008" y="5285232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lee todo antes del commit; lo que no aporta, fuera.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Cómo pedir bien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Pedir bien es la mitad del resultado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Anatomía de una petición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794760" y="251460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95928" y="273405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</p:sp>
      <p:sp>
        <p:nvSpPr>
          <p:cNvPr id="10" name="Text 8"/>
          <p:cNvSpPr/>
          <p:nvPr/>
        </p:nvSpPr>
        <p:spPr>
          <a:xfrm>
            <a:off x="4251960" y="251460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4124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Audiencia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3794760" y="324612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95928" y="346557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</p:sp>
      <p:sp>
        <p:nvSpPr>
          <p:cNvPr id="16" name="Text 14"/>
          <p:cNvSpPr/>
          <p:nvPr/>
        </p:nvSpPr>
        <p:spPr>
          <a:xfrm>
            <a:off x="4251960" y="324612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4124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Criterio de éxito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794760" y="3977640"/>
            <a:ext cx="288036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2E7C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95928" y="4197096"/>
            <a:ext cx="109728" cy="109728"/>
          </a:xfrm>
          <a:prstGeom prst="ellipse">
            <a:avLst/>
          </a:prstGeom>
          <a:solidFill>
            <a:srgbClr val="DD8533"/>
          </a:solidFill>
          <a:ln/>
        </p:spPr>
      </p:sp>
      <p:sp>
        <p:nvSpPr>
          <p:cNvPr id="22" name="Text 20"/>
          <p:cNvSpPr/>
          <p:nvPr/>
        </p:nvSpPr>
        <p:spPr>
          <a:xfrm>
            <a:off x="4251960" y="39776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Fecha límite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47548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COMO-PEDIR.md trae plantillas por dominio para copiar y rellenar.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1965960"/>
            <a:ext cx="4419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Dos palabras estrella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132320" y="2514600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132320" y="2514600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</p:sp>
      <p:sp>
        <p:nvSpPr>
          <p:cNvPr id="27" name="Shape 25"/>
          <p:cNvSpPr/>
          <p:nvPr/>
        </p:nvSpPr>
        <p:spPr>
          <a:xfrm>
            <a:off x="7406640" y="2926080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</p:sp>
      <p:sp>
        <p:nvSpPr>
          <p:cNvPr id="28" name="Text 26"/>
          <p:cNvSpPr/>
          <p:nvPr/>
        </p:nvSpPr>
        <p:spPr>
          <a:xfrm>
            <a:off x="7406640" y="29260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council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144000" y="2624328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Fuerza el panel de evaluación con veredicto. Úsala en decisiones caras o material que sale de la empresa.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132320" y="3959352"/>
            <a:ext cx="4419295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132320" y="3959352"/>
            <a:ext cx="82296" cy="1280160"/>
          </a:xfrm>
          <a:prstGeom prst="rect">
            <a:avLst/>
          </a:prstGeom>
          <a:solidFill>
            <a:srgbClr val="DD8533"/>
          </a:solidFill>
          <a:ln/>
        </p:spPr>
      </p:sp>
      <p:sp>
        <p:nvSpPr>
          <p:cNvPr id="32" name="Shape 30"/>
          <p:cNvSpPr/>
          <p:nvPr/>
        </p:nvSpPr>
        <p:spPr>
          <a:xfrm>
            <a:off x="7406640" y="4370832"/>
            <a:ext cx="1554480" cy="457200"/>
          </a:xfrm>
          <a:prstGeom prst="roundRect">
            <a:avLst>
              <a:gd name="adj" fmla="val 12000"/>
            </a:avLst>
          </a:prstGeom>
          <a:solidFill>
            <a:srgbClr val="0C2A3E"/>
          </a:solidFill>
          <a:ln/>
        </p:spPr>
      </p:sp>
      <p:sp>
        <p:nvSpPr>
          <p:cNvPr id="33" name="Text 31"/>
          <p:cNvSpPr/>
          <p:nvPr/>
        </p:nvSpPr>
        <p:spPr>
          <a:xfrm>
            <a:off x="7406640" y="437083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final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0" y="4069080"/>
            <a:ext cx="217901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36434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Exige el checklist completo del playbook: la versión revisada y lista para entregar.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misma tarea, floja y bien pedida: se nota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920240"/>
            <a:ext cx="5227168" cy="566928"/>
          </a:xfrm>
          <a:prstGeom prst="rect">
            <a:avLst/>
          </a:prstGeom>
          <a:solidFill>
            <a:srgbClr val="C6404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floja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678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"Hazme una presentación bonita sobre IA."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14400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bonito y vacío que tendrás que rehacer.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324448" y="1920240"/>
            <a:ext cx="5227168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4EA"/>
            </a:solidFill>
            <a:prstDash val="solid"/>
          </a:ln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24448" y="1920240"/>
            <a:ext cx="5227168" cy="566928"/>
          </a:xfrm>
          <a:prstGeom prst="rect">
            <a:avLst/>
          </a:prstGeom>
          <a:solidFill>
            <a:srgbClr val="105687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20240"/>
            <a:ext cx="4678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Petición buena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98768" y="2633472"/>
            <a:ext cx="467852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"Deck para el comité de Ordenaris (no técnicos); objetivo: que aprueben un piloto de IA. Contexto: informe adjunto. Formato: 12 láminas con marca Innovattia. Está bien si entienden el retorno y los riesgos. Fecha: viernes."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598768" y="4251960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100" kern="0" dirty="0">
                <a:solidFill>
                  <a:srgbClr val="1E8A4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Resultado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598768" y="4572000"/>
            <a:ext cx="46785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Algo que puedes llevar a la reunión.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no es el modelo, es cómo pides.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Instalación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instala en tres pasos, sin pisar tu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943600" cy="2286000"/>
          </a:xfrm>
          <a:prstGeom prst="rect">
            <a:avLst/>
          </a:prstGeom>
          <a:solidFill>
            <a:srgbClr val="0C2A3E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21992"/>
            <a:ext cx="146304" cy="146304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" y="2221992"/>
            <a:ext cx="146304" cy="146304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7" name="Shape 5"/>
          <p:cNvSpPr/>
          <p:nvPr/>
        </p:nvSpPr>
        <p:spPr>
          <a:xfrm>
            <a:off x="1426464" y="2221992"/>
            <a:ext cx="146304" cy="146304"/>
          </a:xfrm>
          <a:prstGeom prst="ellipse">
            <a:avLst/>
          </a:prstGeom>
          <a:solidFill>
            <a:srgbClr val="28C840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6517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 &lt;url&gt; claude-kit-chema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cd claude-kit-chema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60120" y="35661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350" dirty="0">
                <a:solidFill>
                  <a:srgbClr val="E6EEF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instalador copia el núcleo, las skills y el contexto a ~/.claude/.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040880" y="196596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93951" y="2119031"/>
            <a:ext cx="260787" cy="260787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818120" y="192938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pisa nada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818120" y="229514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ya tienes un ~/.claude/CLAUDE.md, añade una sección marcada al final y respalda el anterior.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7040880" y="301752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3951" y="3170591"/>
            <a:ext cx="260787" cy="260787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7818120" y="298094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 opt-in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7818120" y="334670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Actívalo con KIT_HOOKS=s ./instalar.sh para bloquear commits con secretos.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040880" y="4069080"/>
            <a:ext cx="566928" cy="566928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3951" y="4222151"/>
            <a:ext cx="260787" cy="260787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818120" y="4032504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claude.ai web también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7818120" y="4398264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Pega el núcleo como instrucciones del proyecto y sube los SKILL.md que uses.</a:t>
            </a:r>
            <a:endParaRPr lang="en-US" sz="1250" dirty="0"/>
          </a:p>
        </p:txBody>
      </p:sp>
      <p:sp>
        <p:nvSpPr>
          <p:cNvPr id="24" name="Shape 19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pPr algn="l" indent="0" marL="0">
              <a:buNone/>
            </a:pPr>
            <a:r>
              <a:rPr lang="en-US" sz="1200" spc="100" kern="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Mejora continua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3000" b="1" dirty="0">
                <a:solidFill>
                  <a:srgbClr val="10568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kit aprende: una corrección repetida se vuelve regla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788109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997" y="239572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Corriges dos veces lo mismo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tono, un formato o una cifra que siempre calcula mal.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274" y="2459736"/>
            <a:ext cx="292608" cy="2926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105687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5536" y="2395728"/>
            <a:ext cx="420624" cy="4206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4490618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propone como regla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4490618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Esa corrección se convierte en regla permanente del kit.</a:t>
            </a:r>
            <a:endParaRPr lang="en-US" sz="125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813" y="2459736"/>
            <a:ext cx="292608" cy="29260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489186" y="2148840"/>
            <a:ext cx="914400" cy="914400"/>
          </a:xfrm>
          <a:prstGeom prst="ellipse">
            <a:avLst/>
          </a:prstGeom>
          <a:solidFill>
            <a:srgbClr val="1E8A4C"/>
          </a:solidFill>
          <a:ln/>
          <a:effectLst>
            <a:outerShdw sx="100000" sy="100000" kx="0" ky="0" algn="bl" rotWithShape="0" blurRad="114300" dist="38100" dir="8100000">
              <a:srgbClr val="0C2A3E">
                <a:alpha val="13000"/>
              </a:srgbClr>
            </a:outerShdw>
          </a:effectLst>
        </p:spPr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6074" y="2395728"/>
            <a:ext cx="420624" cy="420624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41157" y="3200400"/>
            <a:ext cx="32104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1A1D2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Entra al CHANGELOG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8341157" y="3776472"/>
            <a:ext cx="321045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Queda registrada con fecha en el repositorio, para todos.</a:t>
            </a:r>
            <a:endParaRPr lang="en-US" sz="1250" dirty="0"/>
          </a:p>
        </p:txBody>
      </p:sp>
      <p:sp>
        <p:nvSpPr>
          <p:cNvPr id="18" name="Shape 11"/>
          <p:cNvSpPr/>
          <p:nvPr/>
        </p:nvSpPr>
        <p:spPr>
          <a:xfrm>
            <a:off x="640080" y="5257800"/>
            <a:ext cx="10911535" cy="868680"/>
          </a:xfrm>
          <a:prstGeom prst="rect">
            <a:avLst/>
          </a:prstGeom>
          <a:solidFill>
            <a:srgbClr val="EDF2F6"/>
          </a:solidFill>
          <a:ln w="12700">
            <a:solidFill>
              <a:srgbClr val="DCE4EA"/>
            </a:solidFill>
            <a:prstDash val="solid"/>
          </a:ln>
        </p:spPr>
      </p:sp>
      <p:sp>
        <p:nvSpPr>
          <p:cNvPr id="19" name="Text 12"/>
          <p:cNvSpPr/>
          <p:nvPr/>
        </p:nvSpPr>
        <p:spPr>
          <a:xfrm>
            <a:off x="1005840" y="53492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DD853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pPr algn="l" indent="0" marL="0">
              <a:buNone/>
            </a:pPr>
            <a:r>
              <a:rPr lang="en-US" sz="1500" b="1" dirty="0">
                <a:solidFill>
                  <a:srgbClr val="1A1D2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pull &amp;&amp; ./instalar.sh</a:t>
            </a:r>
            <a:endParaRPr lang="en-US" sz="1500" dirty="0"/>
          </a:p>
        </p:txBody>
      </p:sp>
      <p:sp>
        <p:nvSpPr>
          <p:cNvPr id="20" name="Text 13"/>
          <p:cNvSpPr/>
          <p:nvPr/>
        </p:nvSpPr>
        <p:spPr>
          <a:xfrm>
            <a:off x="6126480" y="5349240"/>
            <a:ext cx="5425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451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Trae la última versión sin destruir tu CLAUDE.md ni tu contexto de empresa. Dejas de pelear con el mismo error para siempre.</a:t>
            </a:r>
            <a:endParaRPr lang="en-US" sz="1250" dirty="0"/>
          </a:p>
        </p:txBody>
      </p:sp>
      <p:sp>
        <p:nvSpPr>
          <p:cNvPr id="21" name="Shape 14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DCE4EA"/>
            </a:solidFill>
            <a:prstDash val="solid"/>
          </a:ln>
        </p:spPr>
      </p:sp>
      <p:sp>
        <p:nvSpPr>
          <p:cNvPr id="22" name="Text 15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9A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2801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502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100" kern="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respaldo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640080" y="9144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es opinión: está probado y respaldado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640080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/ 25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914400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afirmaciones verificadas contra fuentes primarias de Anthropic (0 refutadas)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29658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29658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</p:sp>
      <p:sp>
        <p:nvSpPr>
          <p:cNvPr id="11" name="Text 8"/>
          <p:cNvSpPr/>
          <p:nvPr/>
        </p:nvSpPr>
        <p:spPr>
          <a:xfrm>
            <a:off x="4612538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21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703978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peticiones naturales activaron la skill correcta (criterio ≥ 19/21)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219237" y="2286000"/>
            <a:ext cx="3332378" cy="2286000"/>
          </a:xfrm>
          <a:prstGeom prst="rect">
            <a:avLst/>
          </a:prstGeom>
          <a:solidFill>
            <a:srgbClr val="10314A"/>
          </a:solidFill>
          <a:ln w="12700">
            <a:solidFill>
              <a:srgbClr val="1C3A4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19237" y="2286000"/>
            <a:ext cx="3332378" cy="91440"/>
          </a:xfrm>
          <a:prstGeom prst="rect">
            <a:avLst/>
          </a:prstGeom>
          <a:solidFill>
            <a:srgbClr val="DD8533"/>
          </a:solidFill>
          <a:ln/>
        </p:spPr>
      </p:sp>
      <p:sp>
        <p:nvSpPr>
          <p:cNvPr id="15" name="Text 12"/>
          <p:cNvSpPr/>
          <p:nvPr/>
        </p:nvSpPr>
        <p:spPr>
          <a:xfrm>
            <a:off x="8402117" y="2697480"/>
            <a:ext cx="296661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FA95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50×</a:t>
            </a:r>
            <a:endParaRPr lang="en-US" sz="4600" dirty="0"/>
          </a:p>
        </p:txBody>
      </p:sp>
      <p:sp>
        <p:nvSpPr>
          <p:cNvPr id="16" name="Text 13"/>
          <p:cNvSpPr/>
          <p:nvPr/>
        </p:nvSpPr>
        <p:spPr>
          <a:xfrm>
            <a:off x="8493557" y="3703320"/>
            <a:ext cx="27837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FDBE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error de cálculo plantado que el council cazó y rechazó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21208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Instálalo hoy: 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 clone</a:t>
            </a:r>
            <a:pPr algn="ctr" indent="0" marL="0">
              <a:buNone/>
            </a:pPr>
            <a:r>
              <a:rPr lang="en-US" sz="1800" dirty="0">
                <a:solidFill>
                  <a:srgbClr val="8FA5B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+  </a:t>
            </a:r>
            <a:pPr algn="ctr" indent="0" marL="0">
              <a:buNone/>
            </a:pPr>
            <a:r>
              <a:rPr lang="en-US" sz="1800" dirty="0">
                <a:solidFill>
                  <a:srgbClr val="EFA9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./instalar.sh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6419088"/>
            <a:ext cx="10911535" cy="0"/>
          </a:xfrm>
          <a:prstGeom prst="line">
            <a:avLst/>
          </a:prstGeom>
          <a:noFill/>
          <a:ln w="12700">
            <a:solidFill>
              <a:srgbClr val="1C3A4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645566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Chema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9722815" y="64556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748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Chema — presentacion</dc:title>
  <dc:subject>PptxGenJS Presentation</dc:subject>
  <dc:creator>Kit Chema</dc:creator>
  <cp:lastModifiedBy>Kit Chema</cp:lastModifiedBy>
  <cp:revision>1</cp:revision>
  <dcterms:created xsi:type="dcterms:W3CDTF">2026-07-09T06:31:41Z</dcterms:created>
  <dcterms:modified xsi:type="dcterms:W3CDTF">2026-07-09T06:31:41Z</dcterms:modified>
</cp:coreProperties>
</file>